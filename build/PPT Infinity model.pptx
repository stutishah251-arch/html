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07" r:id="rId6"/>
    <p:sldId id="308" r:id="rId7"/>
    <p:sldId id="278" r:id="rId8"/>
    <p:sldId id="309" r:id="rId9"/>
    <p:sldId id="263" r:id="rId10"/>
    <p:sldId id="310" r:id="rId11"/>
    <p:sldId id="311" r:id="rId12"/>
    <p:sldId id="312" r:id="rId13"/>
    <p:sldId id="316" r:id="rId14"/>
    <p:sldId id="314" r:id="rId15"/>
    <p:sldId id="315" r:id="rId16"/>
    <p:sldId id="304" r:id="rId17"/>
    <p:sldId id="318" r:id="rId18"/>
    <p:sldId id="319" r:id="rId19"/>
    <p:sldId id="320" r:id="rId20"/>
    <p:sldId id="321" r:id="rId21"/>
    <p:sldId id="322" r:id="rId22"/>
    <p:sldId id="323" r:id="rId23"/>
    <p:sldId id="32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4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11/12/2025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11/12/2025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809071-72D6-A796-C91C-05CF2FCF56C6}"/>
              </a:ext>
            </a:extLst>
          </p:cNvPr>
          <p:cNvSpPr txBox="1"/>
          <p:nvPr/>
        </p:nvSpPr>
        <p:spPr>
          <a:xfrm>
            <a:off x="1219200" y="609600"/>
            <a:ext cx="9596283" cy="4154984"/>
          </a:xfrm>
          <a:prstGeom prst="rect">
            <a:avLst/>
          </a:prstGeom>
          <a:noFill/>
        </p:spPr>
        <p:txBody>
          <a:bodyPr wrap="square" rtlCol="0">
            <a:spAutoFit/>
          </a:bodyPr>
          <a:lstStyle/>
          <a:p>
            <a:pPr algn="ctr"/>
            <a:r>
              <a:rPr lang="en-US" sz="2400" b="1" u="sng" dirty="0"/>
              <a:t>INFINITY MODEL PPT (HTML)</a:t>
            </a:r>
          </a:p>
          <a:p>
            <a:pPr algn="ctr"/>
            <a:endParaRPr lang="en-IN" sz="2400" dirty="0"/>
          </a:p>
          <a:p>
            <a:pPr marL="342900" indent="-342900">
              <a:buFont typeface="Arial" panose="020B0604020202020204" pitchFamily="34" charset="0"/>
              <a:buChar char="•"/>
            </a:pPr>
            <a:r>
              <a:rPr lang="en-IN" sz="2200" dirty="0"/>
              <a:t>We learnt about the new education policy (nep) and even the curriculum the things we would be learning in the web technology lab and coding languages to be learnt.</a:t>
            </a:r>
          </a:p>
          <a:p>
            <a:pPr marL="342900" indent="-342900">
              <a:buFont typeface="Arial" panose="020B0604020202020204" pitchFamily="34" charset="0"/>
              <a:buChar char="•"/>
            </a:pPr>
            <a:r>
              <a:rPr lang="en-IN" sz="2200" dirty="0"/>
              <a:t>Even the marking scheme and gave the details of the micro project.</a:t>
            </a:r>
          </a:p>
          <a:p>
            <a:pPr marL="342900" indent="-342900">
              <a:buFont typeface="Arial" panose="020B0604020202020204" pitchFamily="34" charset="0"/>
              <a:buChar char="•"/>
            </a:pPr>
            <a:r>
              <a:rPr lang="en-IN" sz="2000" dirty="0"/>
              <a:t>Started with </a:t>
            </a:r>
            <a:r>
              <a:rPr lang="en-IN" sz="2200" dirty="0"/>
              <a:t>HTML (</a:t>
            </a:r>
            <a:r>
              <a:rPr lang="en-IN" sz="2200" dirty="0" err="1"/>
              <a:t>HyperText</a:t>
            </a:r>
            <a:r>
              <a:rPr lang="en-IN" sz="2200" dirty="0"/>
              <a:t> Markup Language) which is the standard language used to create and structure web pages. It defines the content and layout of a webpage using elements and tags. HTML works across all browsers and operating systems.</a:t>
            </a:r>
          </a:p>
          <a:p>
            <a:pPr marL="342900" indent="-342900">
              <a:buFont typeface="Arial" panose="020B0604020202020204" pitchFamily="34" charset="0"/>
              <a:buChar char="•"/>
            </a:pPr>
            <a:r>
              <a:rPr lang="en-IN" sz="2200" dirty="0"/>
              <a:t>HTML uses tags like &lt;h1&gt;, &lt;p&gt;, &lt;</a:t>
            </a:r>
            <a:r>
              <a:rPr lang="en-IN" sz="2200" dirty="0" err="1"/>
              <a:t>img</a:t>
            </a:r>
            <a:r>
              <a:rPr lang="en-IN" sz="2200" dirty="0"/>
              <a:t>&gt; and &lt;a&gt; to define headings, paragraphs, images and links.</a:t>
            </a:r>
          </a:p>
          <a:p>
            <a:endParaRPr lang="en-IN"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946B30-6B1C-75AC-3FF9-999DA6E1E401}"/>
              </a:ext>
            </a:extLst>
          </p:cNvPr>
          <p:cNvSpPr txBox="1"/>
          <p:nvPr/>
        </p:nvSpPr>
        <p:spPr>
          <a:xfrm>
            <a:off x="727586" y="452284"/>
            <a:ext cx="10333703" cy="1323439"/>
          </a:xfrm>
          <a:prstGeom prst="rect">
            <a:avLst/>
          </a:prstGeom>
          <a:noFill/>
        </p:spPr>
        <p:txBody>
          <a:bodyPr wrap="square" rtlCol="0">
            <a:spAutoFit/>
          </a:bodyPr>
          <a:lstStyle/>
          <a:p>
            <a:r>
              <a:rPr lang="en-US" sz="2000" b="1" dirty="0"/>
              <a:t>Code 01:</a:t>
            </a:r>
          </a:p>
          <a:p>
            <a:pPr marL="342900" indent="-342900">
              <a:buFont typeface="Arial" panose="020B0604020202020204" pitchFamily="34" charset="0"/>
              <a:buChar char="•"/>
            </a:pPr>
            <a:r>
              <a:rPr lang="en-US" sz="2000" b="1" dirty="0"/>
              <a:t>In this code we have learnt the basics of html and the order it should be written in. </a:t>
            </a:r>
          </a:p>
          <a:p>
            <a:pPr marL="342900" indent="-342900">
              <a:buFont typeface="Arial" panose="020B0604020202020204" pitchFamily="34" charset="0"/>
              <a:buChar char="•"/>
            </a:pPr>
            <a:r>
              <a:rPr lang="en-US" sz="2000" b="1" dirty="0"/>
              <a:t>This code taught us about the tags like &lt;b&gt; and &lt;</a:t>
            </a:r>
            <a:r>
              <a:rPr lang="en-US" sz="2000" b="1" dirty="0" err="1"/>
              <a:t>br</a:t>
            </a:r>
            <a:r>
              <a:rPr lang="en-US" sz="2000" b="1" dirty="0"/>
              <a:t>&gt; which represents bold tag to make the font bold and break tag to start the new contact.  </a:t>
            </a:r>
            <a:endParaRPr lang="en-IN" sz="2000" b="1" dirty="0"/>
          </a:p>
        </p:txBody>
      </p:sp>
      <p:pic>
        <p:nvPicPr>
          <p:cNvPr id="9" name="Picture 8">
            <a:extLst>
              <a:ext uri="{FF2B5EF4-FFF2-40B4-BE49-F238E27FC236}">
                <a16:creationId xmlns:a16="http://schemas.microsoft.com/office/drawing/2014/main" id="{70F20630-520E-2D8B-0D2B-2DD283BE91E3}"/>
              </a:ext>
            </a:extLst>
          </p:cNvPr>
          <p:cNvPicPr>
            <a:picLocks noChangeAspect="1"/>
          </p:cNvPicPr>
          <p:nvPr/>
        </p:nvPicPr>
        <p:blipFill>
          <a:blip r:embed="rId3"/>
          <a:stretch>
            <a:fillRect/>
          </a:stretch>
        </p:blipFill>
        <p:spPr>
          <a:xfrm>
            <a:off x="7081940" y="3274142"/>
            <a:ext cx="3507402" cy="1808135"/>
          </a:xfrm>
          <a:prstGeom prst="rect">
            <a:avLst/>
          </a:prstGeom>
        </p:spPr>
      </p:pic>
      <p:pic>
        <p:nvPicPr>
          <p:cNvPr id="11" name="Picture 10">
            <a:extLst>
              <a:ext uri="{FF2B5EF4-FFF2-40B4-BE49-F238E27FC236}">
                <a16:creationId xmlns:a16="http://schemas.microsoft.com/office/drawing/2014/main" id="{BFC69AC1-5C80-F28E-5833-94C764B7A8C5}"/>
              </a:ext>
            </a:extLst>
          </p:cNvPr>
          <p:cNvPicPr>
            <a:picLocks noChangeAspect="1"/>
          </p:cNvPicPr>
          <p:nvPr/>
        </p:nvPicPr>
        <p:blipFill>
          <a:blip r:embed="rId4"/>
          <a:stretch>
            <a:fillRect/>
          </a:stretch>
        </p:blipFill>
        <p:spPr>
          <a:xfrm>
            <a:off x="727586" y="2759408"/>
            <a:ext cx="4115374" cy="3305636"/>
          </a:xfrm>
          <a:prstGeom prst="rect">
            <a:avLst/>
          </a:prstGeom>
        </p:spPr>
      </p:pic>
      <p:sp>
        <p:nvSpPr>
          <p:cNvPr id="12" name="TextBox 11">
            <a:extLst>
              <a:ext uri="{FF2B5EF4-FFF2-40B4-BE49-F238E27FC236}">
                <a16:creationId xmlns:a16="http://schemas.microsoft.com/office/drawing/2014/main" id="{262117AC-731C-3771-2D05-229E9C4A67CD}"/>
              </a:ext>
            </a:extLst>
          </p:cNvPr>
          <p:cNvSpPr txBox="1"/>
          <p:nvPr/>
        </p:nvSpPr>
        <p:spPr>
          <a:xfrm>
            <a:off x="806245" y="2133600"/>
            <a:ext cx="2635045" cy="384721"/>
          </a:xfrm>
          <a:prstGeom prst="rect">
            <a:avLst/>
          </a:prstGeom>
          <a:noFill/>
        </p:spPr>
        <p:txBody>
          <a:bodyPr wrap="square" rtlCol="0">
            <a:spAutoFit/>
          </a:bodyPr>
          <a:lstStyle/>
          <a:p>
            <a:r>
              <a:rPr lang="en-US" sz="1900" b="1" dirty="0"/>
              <a:t>Input:</a:t>
            </a:r>
            <a:endParaRPr lang="en-IN" sz="1900" b="1" dirty="0"/>
          </a:p>
        </p:txBody>
      </p:sp>
      <p:sp>
        <p:nvSpPr>
          <p:cNvPr id="13" name="TextBox 12">
            <a:extLst>
              <a:ext uri="{FF2B5EF4-FFF2-40B4-BE49-F238E27FC236}">
                <a16:creationId xmlns:a16="http://schemas.microsoft.com/office/drawing/2014/main" id="{81B5D73F-2767-3FD7-DE7E-247BEC73C8AE}"/>
              </a:ext>
            </a:extLst>
          </p:cNvPr>
          <p:cNvSpPr txBox="1"/>
          <p:nvPr/>
        </p:nvSpPr>
        <p:spPr>
          <a:xfrm>
            <a:off x="7266039" y="2261419"/>
            <a:ext cx="2310580" cy="384721"/>
          </a:xfrm>
          <a:prstGeom prst="rect">
            <a:avLst/>
          </a:prstGeom>
          <a:noFill/>
        </p:spPr>
        <p:txBody>
          <a:bodyPr wrap="square" rtlCol="0">
            <a:spAutoFit/>
          </a:bodyPr>
          <a:lstStyle/>
          <a:p>
            <a:r>
              <a:rPr lang="en-US" sz="1900" b="1" dirty="0"/>
              <a:t>Output:</a:t>
            </a:r>
            <a:endParaRPr lang="en-IN" sz="1900" b="1"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925A7A-4875-8457-0CEE-B99F99FB1445}"/>
              </a:ext>
            </a:extLst>
          </p:cNvPr>
          <p:cNvSpPr txBox="1"/>
          <p:nvPr/>
        </p:nvSpPr>
        <p:spPr>
          <a:xfrm>
            <a:off x="943896" y="501445"/>
            <a:ext cx="10264878" cy="1938992"/>
          </a:xfrm>
          <a:prstGeom prst="rect">
            <a:avLst/>
          </a:prstGeom>
          <a:noFill/>
        </p:spPr>
        <p:txBody>
          <a:bodyPr wrap="square" rtlCol="0">
            <a:spAutoFit/>
          </a:bodyPr>
          <a:lstStyle/>
          <a:p>
            <a:r>
              <a:rPr lang="en-US" sz="2000" b="1" dirty="0"/>
              <a:t>Code 02:</a:t>
            </a:r>
          </a:p>
          <a:p>
            <a:pPr marL="342900" indent="-342900">
              <a:buFont typeface="Arial" panose="020B0604020202020204" pitchFamily="34" charset="0"/>
              <a:buChar char="•"/>
            </a:pPr>
            <a:r>
              <a:rPr lang="en-IN" sz="2000" b="1" dirty="0"/>
              <a:t>In code 2 we have learnt about the paragraph tag &lt;p&gt; which is used to display paragraph content.</a:t>
            </a:r>
          </a:p>
          <a:p>
            <a:pPr marL="342900" indent="-342900">
              <a:buFont typeface="Arial" panose="020B0604020202020204" pitchFamily="34" charset="0"/>
              <a:buChar char="•"/>
            </a:pPr>
            <a:r>
              <a:rPr lang="en-IN" sz="2000" b="1" dirty="0"/>
              <a:t>In brief </a:t>
            </a:r>
            <a:r>
              <a:rPr lang="en-US" sz="2000" b="1" dirty="0"/>
              <a:t>about paragraph tag, we learnt about alignment which is an attribute of the paragraph tag used to align text in center, left, right or justify.</a:t>
            </a:r>
            <a:r>
              <a:rPr lang="en-IN" sz="2000" b="1" dirty="0"/>
              <a:t> </a:t>
            </a:r>
          </a:p>
          <a:p>
            <a:pPr marL="342900" indent="-342900">
              <a:buFont typeface="Arial" panose="020B0604020202020204" pitchFamily="34" charset="0"/>
              <a:buChar char="•"/>
            </a:pPr>
            <a:r>
              <a:rPr lang="en-US" sz="2000" b="1" dirty="0"/>
              <a:t>We learnt about the pre tag &lt;pre&gt; which is used to display the content as it has been written in the code.</a:t>
            </a:r>
            <a:endParaRPr lang="en-IN" sz="2000" b="1" dirty="0"/>
          </a:p>
        </p:txBody>
      </p:sp>
      <p:sp>
        <p:nvSpPr>
          <p:cNvPr id="6" name="TextBox 5">
            <a:extLst>
              <a:ext uri="{FF2B5EF4-FFF2-40B4-BE49-F238E27FC236}">
                <a16:creationId xmlns:a16="http://schemas.microsoft.com/office/drawing/2014/main" id="{5E31729D-B46B-CE88-699A-D10D71DC5AD2}"/>
              </a:ext>
            </a:extLst>
          </p:cNvPr>
          <p:cNvSpPr txBox="1"/>
          <p:nvPr/>
        </p:nvSpPr>
        <p:spPr>
          <a:xfrm>
            <a:off x="983226" y="2440437"/>
            <a:ext cx="2074607" cy="384721"/>
          </a:xfrm>
          <a:prstGeom prst="rect">
            <a:avLst/>
          </a:prstGeom>
          <a:noFill/>
        </p:spPr>
        <p:txBody>
          <a:bodyPr wrap="square" rtlCol="0">
            <a:spAutoFit/>
          </a:bodyPr>
          <a:lstStyle/>
          <a:p>
            <a:r>
              <a:rPr lang="en-US" sz="1900" b="1" dirty="0"/>
              <a:t>Input:</a:t>
            </a:r>
            <a:endParaRPr lang="en-IN" sz="1900" b="1" dirty="0"/>
          </a:p>
        </p:txBody>
      </p:sp>
      <p:pic>
        <p:nvPicPr>
          <p:cNvPr id="9" name="Picture 8">
            <a:extLst>
              <a:ext uri="{FF2B5EF4-FFF2-40B4-BE49-F238E27FC236}">
                <a16:creationId xmlns:a16="http://schemas.microsoft.com/office/drawing/2014/main" id="{93F64B6A-B2EC-0492-E242-A07FA81DF7DE}"/>
              </a:ext>
            </a:extLst>
          </p:cNvPr>
          <p:cNvPicPr>
            <a:picLocks noChangeAspect="1"/>
          </p:cNvPicPr>
          <p:nvPr/>
        </p:nvPicPr>
        <p:blipFill>
          <a:blip r:embed="rId3"/>
          <a:stretch>
            <a:fillRect/>
          </a:stretch>
        </p:blipFill>
        <p:spPr>
          <a:xfrm>
            <a:off x="137652" y="2825158"/>
            <a:ext cx="12192000" cy="3330963"/>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60ED46C-F934-0FD5-46A4-8C6E331B7D39}"/>
              </a:ext>
            </a:extLst>
          </p:cNvPr>
          <p:cNvSpPr txBox="1"/>
          <p:nvPr/>
        </p:nvSpPr>
        <p:spPr>
          <a:xfrm>
            <a:off x="825910" y="511277"/>
            <a:ext cx="3421625" cy="384721"/>
          </a:xfrm>
          <a:prstGeom prst="rect">
            <a:avLst/>
          </a:prstGeom>
          <a:noFill/>
        </p:spPr>
        <p:txBody>
          <a:bodyPr wrap="square" rtlCol="0">
            <a:spAutoFit/>
          </a:bodyPr>
          <a:lstStyle/>
          <a:p>
            <a:r>
              <a:rPr lang="en-US" sz="1900" b="1" dirty="0"/>
              <a:t>Output:</a:t>
            </a:r>
            <a:endParaRPr lang="en-IN" sz="1900" b="1" dirty="0"/>
          </a:p>
        </p:txBody>
      </p:sp>
      <p:pic>
        <p:nvPicPr>
          <p:cNvPr id="13" name="Picture 12">
            <a:extLst>
              <a:ext uri="{FF2B5EF4-FFF2-40B4-BE49-F238E27FC236}">
                <a16:creationId xmlns:a16="http://schemas.microsoft.com/office/drawing/2014/main" id="{9E5EC21C-F458-8FBC-D665-BC316EDAD506}"/>
              </a:ext>
            </a:extLst>
          </p:cNvPr>
          <p:cNvPicPr>
            <a:picLocks noChangeAspect="1"/>
          </p:cNvPicPr>
          <p:nvPr/>
        </p:nvPicPr>
        <p:blipFill>
          <a:blip r:embed="rId3"/>
          <a:stretch>
            <a:fillRect/>
          </a:stretch>
        </p:blipFill>
        <p:spPr>
          <a:xfrm>
            <a:off x="0" y="1061885"/>
            <a:ext cx="12192000" cy="3363362"/>
          </a:xfrm>
          <a:prstGeom prst="rect">
            <a:avLst/>
          </a:prstGeom>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
        <p:nvSpPr>
          <p:cNvPr id="5" name="TextBox 4">
            <a:extLst>
              <a:ext uri="{FF2B5EF4-FFF2-40B4-BE49-F238E27FC236}">
                <a16:creationId xmlns:a16="http://schemas.microsoft.com/office/drawing/2014/main" id="{150B8522-4AB7-F111-109D-0701E872639D}"/>
              </a:ext>
            </a:extLst>
          </p:cNvPr>
          <p:cNvSpPr txBox="1"/>
          <p:nvPr/>
        </p:nvSpPr>
        <p:spPr>
          <a:xfrm>
            <a:off x="727587" y="383458"/>
            <a:ext cx="6597445" cy="3154710"/>
          </a:xfrm>
          <a:prstGeom prst="rect">
            <a:avLst/>
          </a:prstGeom>
          <a:noFill/>
        </p:spPr>
        <p:txBody>
          <a:bodyPr wrap="square" rtlCol="0">
            <a:spAutoFit/>
          </a:bodyPr>
          <a:lstStyle/>
          <a:p>
            <a:r>
              <a:rPr lang="en-US" sz="1900" b="1" dirty="0"/>
              <a:t>Code 03:</a:t>
            </a:r>
          </a:p>
          <a:p>
            <a:r>
              <a:rPr lang="en-US" dirty="0"/>
              <a:t>In code 3 we learnt about some new tags as well as some tags which have same use but different names they are:</a:t>
            </a:r>
          </a:p>
          <a:p>
            <a:pPr marL="285750" indent="-285750">
              <a:buFont typeface="Arial" panose="020B0604020202020204" pitchFamily="34" charset="0"/>
              <a:buChar char="•"/>
            </a:pPr>
            <a:r>
              <a:rPr lang="en-US" dirty="0"/>
              <a:t>To bold the text we can use &lt;b&gt; or &lt;strong&gt; tag</a:t>
            </a:r>
          </a:p>
          <a:p>
            <a:pPr marL="285750" indent="-285750">
              <a:buFont typeface="Arial" panose="020B0604020202020204" pitchFamily="34" charset="0"/>
              <a:buChar char="•"/>
            </a:pPr>
            <a:r>
              <a:rPr lang="en-US" dirty="0"/>
              <a:t>To have italic font we can use &lt;</a:t>
            </a:r>
            <a:r>
              <a:rPr lang="en-US" dirty="0" err="1"/>
              <a:t>i</a:t>
            </a:r>
            <a:r>
              <a:rPr lang="en-US" dirty="0"/>
              <a:t>&gt; or &lt;ins&gt; tag</a:t>
            </a:r>
          </a:p>
          <a:p>
            <a:pPr marL="285750" indent="-285750">
              <a:buFont typeface="Arial" panose="020B0604020202020204" pitchFamily="34" charset="0"/>
              <a:buChar char="•"/>
            </a:pPr>
            <a:r>
              <a:rPr lang="en-US" dirty="0"/>
              <a:t>To underline text we use &lt;ul&gt; tag</a:t>
            </a:r>
          </a:p>
          <a:p>
            <a:pPr marL="285750" indent="-285750">
              <a:buFont typeface="Arial" panose="020B0604020202020204" pitchFamily="34" charset="0"/>
              <a:buChar char="•"/>
            </a:pPr>
            <a:r>
              <a:rPr lang="en-US" dirty="0"/>
              <a:t>To increase a font size use &lt;big&gt;</a:t>
            </a:r>
          </a:p>
          <a:p>
            <a:pPr marL="285750" indent="-285750">
              <a:buFont typeface="Arial" panose="020B0604020202020204" pitchFamily="34" charset="0"/>
              <a:buChar char="•"/>
            </a:pPr>
            <a:r>
              <a:rPr lang="en-US" dirty="0"/>
              <a:t>To decrease a font size use &lt;small&gt;</a:t>
            </a:r>
          </a:p>
          <a:p>
            <a:pPr marL="285750" indent="-285750">
              <a:buFont typeface="Arial" panose="020B0604020202020204" pitchFamily="34" charset="0"/>
              <a:buChar char="•"/>
            </a:pPr>
            <a:r>
              <a:rPr lang="en-US" dirty="0"/>
              <a:t>To supper script a text use &lt;sup&gt;</a:t>
            </a:r>
          </a:p>
          <a:p>
            <a:pPr marL="285750" indent="-285750">
              <a:buFont typeface="Arial" panose="020B0604020202020204" pitchFamily="34" charset="0"/>
              <a:buChar char="•"/>
            </a:pPr>
            <a:r>
              <a:rPr lang="en-US" dirty="0"/>
              <a:t>To subscript a text use &lt;sub&gt;</a:t>
            </a:r>
          </a:p>
          <a:p>
            <a:pPr marL="285750" indent="-285750">
              <a:buFont typeface="Arial" panose="020B0604020202020204" pitchFamily="34" charset="0"/>
              <a:buChar char="•"/>
            </a:pPr>
            <a:r>
              <a:rPr lang="en-US" dirty="0"/>
              <a:t>To highlight a text use &lt;mark&gt;</a:t>
            </a:r>
            <a:endParaRPr lang="en-IN" dirty="0"/>
          </a:p>
        </p:txBody>
      </p:sp>
      <p:sp>
        <p:nvSpPr>
          <p:cNvPr id="6" name="TextBox 5">
            <a:extLst>
              <a:ext uri="{FF2B5EF4-FFF2-40B4-BE49-F238E27FC236}">
                <a16:creationId xmlns:a16="http://schemas.microsoft.com/office/drawing/2014/main" id="{7B3C22E7-057F-4D78-D1AD-24565FAD0526}"/>
              </a:ext>
            </a:extLst>
          </p:cNvPr>
          <p:cNvSpPr txBox="1"/>
          <p:nvPr/>
        </p:nvSpPr>
        <p:spPr>
          <a:xfrm>
            <a:off x="727587" y="3538168"/>
            <a:ext cx="3677265" cy="384721"/>
          </a:xfrm>
          <a:prstGeom prst="rect">
            <a:avLst/>
          </a:prstGeom>
          <a:noFill/>
        </p:spPr>
        <p:txBody>
          <a:bodyPr wrap="square" rtlCol="0">
            <a:spAutoFit/>
          </a:bodyPr>
          <a:lstStyle/>
          <a:p>
            <a:r>
              <a:rPr lang="en-US" sz="1900" b="1" dirty="0"/>
              <a:t>Input:</a:t>
            </a:r>
            <a:endParaRPr lang="en-IN" sz="1900" b="1" dirty="0"/>
          </a:p>
        </p:txBody>
      </p:sp>
      <p:pic>
        <p:nvPicPr>
          <p:cNvPr id="11" name="Picture 10">
            <a:extLst>
              <a:ext uri="{FF2B5EF4-FFF2-40B4-BE49-F238E27FC236}">
                <a16:creationId xmlns:a16="http://schemas.microsoft.com/office/drawing/2014/main" id="{4F8D47C2-E2DD-5722-8495-CFBC4D089974}"/>
              </a:ext>
            </a:extLst>
          </p:cNvPr>
          <p:cNvPicPr>
            <a:picLocks noChangeAspect="1"/>
          </p:cNvPicPr>
          <p:nvPr/>
        </p:nvPicPr>
        <p:blipFill>
          <a:blip r:embed="rId3"/>
          <a:stretch>
            <a:fillRect/>
          </a:stretch>
        </p:blipFill>
        <p:spPr>
          <a:xfrm>
            <a:off x="4899119" y="2778890"/>
            <a:ext cx="7116097" cy="3996813"/>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78C1AD-C00E-BC04-0B2A-BFE708B9BE44}"/>
              </a:ext>
            </a:extLst>
          </p:cNvPr>
          <p:cNvSpPr txBox="1"/>
          <p:nvPr/>
        </p:nvSpPr>
        <p:spPr>
          <a:xfrm>
            <a:off x="865239" y="422787"/>
            <a:ext cx="3854245" cy="384721"/>
          </a:xfrm>
          <a:prstGeom prst="rect">
            <a:avLst/>
          </a:prstGeom>
          <a:noFill/>
        </p:spPr>
        <p:txBody>
          <a:bodyPr wrap="square" rtlCol="0">
            <a:spAutoFit/>
          </a:bodyPr>
          <a:lstStyle/>
          <a:p>
            <a:r>
              <a:rPr lang="en-US" sz="1900" b="1" dirty="0"/>
              <a:t>Output:</a:t>
            </a:r>
            <a:endParaRPr lang="en-IN" sz="1900" b="1" dirty="0"/>
          </a:p>
        </p:txBody>
      </p:sp>
      <p:pic>
        <p:nvPicPr>
          <p:cNvPr id="7" name="Picture 6">
            <a:extLst>
              <a:ext uri="{FF2B5EF4-FFF2-40B4-BE49-F238E27FC236}">
                <a16:creationId xmlns:a16="http://schemas.microsoft.com/office/drawing/2014/main" id="{32BCAC0A-B1B9-8423-B127-43E8D1464E8B}"/>
              </a:ext>
            </a:extLst>
          </p:cNvPr>
          <p:cNvPicPr>
            <a:picLocks noChangeAspect="1"/>
          </p:cNvPicPr>
          <p:nvPr/>
        </p:nvPicPr>
        <p:blipFill>
          <a:blip r:embed="rId3"/>
          <a:stretch>
            <a:fillRect/>
          </a:stretch>
        </p:blipFill>
        <p:spPr>
          <a:xfrm>
            <a:off x="1022555" y="1122665"/>
            <a:ext cx="6517683" cy="3019846"/>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7" name="TextBox 6">
            <a:extLst>
              <a:ext uri="{FF2B5EF4-FFF2-40B4-BE49-F238E27FC236}">
                <a16:creationId xmlns:a16="http://schemas.microsoft.com/office/drawing/2014/main" id="{31210B5D-A8EB-A18A-FF0E-38A93EC40462}"/>
              </a:ext>
            </a:extLst>
          </p:cNvPr>
          <p:cNvSpPr txBox="1"/>
          <p:nvPr/>
        </p:nvSpPr>
        <p:spPr>
          <a:xfrm>
            <a:off x="570271" y="275303"/>
            <a:ext cx="10618839" cy="1215717"/>
          </a:xfrm>
          <a:prstGeom prst="rect">
            <a:avLst/>
          </a:prstGeom>
          <a:noFill/>
        </p:spPr>
        <p:txBody>
          <a:bodyPr wrap="square" rtlCol="0">
            <a:spAutoFit/>
          </a:bodyPr>
          <a:lstStyle/>
          <a:p>
            <a:r>
              <a:rPr lang="en-US" sz="1900" b="1" dirty="0"/>
              <a:t>Code 04:</a:t>
            </a:r>
          </a:p>
          <a:p>
            <a:pPr marL="285750" indent="-285750">
              <a:buFont typeface="Arial" panose="020B0604020202020204" pitchFamily="34" charset="0"/>
              <a:buChar char="•"/>
            </a:pPr>
            <a:r>
              <a:rPr lang="en-US" dirty="0"/>
              <a:t>In code 4 we learnt about the list the which are ordered and unordered designated by</a:t>
            </a:r>
          </a:p>
          <a:p>
            <a:pPr marL="285750" indent="-285750">
              <a:buFont typeface="Arial" panose="020B0604020202020204" pitchFamily="34" charset="0"/>
              <a:buChar char="•"/>
            </a:pPr>
            <a:r>
              <a:rPr lang="en-US" dirty="0"/>
              <a:t> &lt;</a:t>
            </a:r>
            <a:r>
              <a:rPr lang="en-US" dirty="0" err="1"/>
              <a:t>ol</a:t>
            </a:r>
            <a:r>
              <a:rPr lang="en-US" dirty="0"/>
              <a:t>&gt; and &lt;ul&gt; respectively these have further &lt;li&gt; tags which is used to list the data under a list tag</a:t>
            </a:r>
          </a:p>
          <a:p>
            <a:pPr marL="285750" indent="-285750">
              <a:buFont typeface="Arial" panose="020B0604020202020204" pitchFamily="34" charset="0"/>
              <a:buChar char="•"/>
            </a:pPr>
            <a:r>
              <a:rPr lang="en-US" dirty="0"/>
              <a:t>The attributes of the </a:t>
            </a:r>
            <a:r>
              <a:rPr lang="en-US" dirty="0" err="1"/>
              <a:t>ol</a:t>
            </a:r>
            <a:r>
              <a:rPr lang="en-US" dirty="0"/>
              <a:t> tag and ul tag help to change the bullets for </a:t>
            </a:r>
            <a:r>
              <a:rPr lang="en-US" dirty="0" err="1"/>
              <a:t>eg</a:t>
            </a:r>
            <a:r>
              <a:rPr lang="en-US" dirty="0"/>
              <a:t> &lt;type=”square”&gt;</a:t>
            </a:r>
            <a:endParaRPr lang="en-IN" dirty="0"/>
          </a:p>
        </p:txBody>
      </p:sp>
      <p:sp>
        <p:nvSpPr>
          <p:cNvPr id="8" name="TextBox 7">
            <a:extLst>
              <a:ext uri="{FF2B5EF4-FFF2-40B4-BE49-F238E27FC236}">
                <a16:creationId xmlns:a16="http://schemas.microsoft.com/office/drawing/2014/main" id="{2517A9B4-7850-B5D5-2029-1D576F50D6BD}"/>
              </a:ext>
            </a:extLst>
          </p:cNvPr>
          <p:cNvSpPr txBox="1"/>
          <p:nvPr/>
        </p:nvSpPr>
        <p:spPr>
          <a:xfrm>
            <a:off x="570271" y="1504335"/>
            <a:ext cx="1818968" cy="384721"/>
          </a:xfrm>
          <a:prstGeom prst="rect">
            <a:avLst/>
          </a:prstGeom>
          <a:noFill/>
        </p:spPr>
        <p:txBody>
          <a:bodyPr wrap="square" rtlCol="0">
            <a:spAutoFit/>
          </a:bodyPr>
          <a:lstStyle/>
          <a:p>
            <a:r>
              <a:rPr lang="en-US" sz="1900" b="1" dirty="0"/>
              <a:t>Input:</a:t>
            </a:r>
            <a:endParaRPr lang="en-IN" sz="1900" b="1" dirty="0"/>
          </a:p>
        </p:txBody>
      </p:sp>
      <p:pic>
        <p:nvPicPr>
          <p:cNvPr id="10" name="Picture 9">
            <a:extLst>
              <a:ext uri="{FF2B5EF4-FFF2-40B4-BE49-F238E27FC236}">
                <a16:creationId xmlns:a16="http://schemas.microsoft.com/office/drawing/2014/main" id="{1FBDC06B-C97D-CF4E-AE5C-41DAD539EB36}"/>
              </a:ext>
            </a:extLst>
          </p:cNvPr>
          <p:cNvPicPr>
            <a:picLocks noChangeAspect="1"/>
          </p:cNvPicPr>
          <p:nvPr/>
        </p:nvPicPr>
        <p:blipFill>
          <a:blip r:embed="rId3"/>
          <a:stretch>
            <a:fillRect/>
          </a:stretch>
        </p:blipFill>
        <p:spPr>
          <a:xfrm>
            <a:off x="1392024" y="1491020"/>
            <a:ext cx="3665912" cy="5353665"/>
          </a:xfrm>
          <a:prstGeom prst="rect">
            <a:avLst/>
          </a:prstGeom>
        </p:spPr>
      </p:pic>
      <p:sp>
        <p:nvSpPr>
          <p:cNvPr id="12" name="TextBox 11">
            <a:extLst>
              <a:ext uri="{FF2B5EF4-FFF2-40B4-BE49-F238E27FC236}">
                <a16:creationId xmlns:a16="http://schemas.microsoft.com/office/drawing/2014/main" id="{9C5357E5-FD62-1BE3-7EC8-3ADF6E266565}"/>
              </a:ext>
            </a:extLst>
          </p:cNvPr>
          <p:cNvSpPr txBox="1"/>
          <p:nvPr/>
        </p:nvSpPr>
        <p:spPr>
          <a:xfrm>
            <a:off x="5757635" y="1504335"/>
            <a:ext cx="1632155" cy="384721"/>
          </a:xfrm>
          <a:prstGeom prst="rect">
            <a:avLst/>
          </a:prstGeom>
          <a:noFill/>
        </p:spPr>
        <p:txBody>
          <a:bodyPr wrap="square" rtlCol="0">
            <a:spAutoFit/>
          </a:bodyPr>
          <a:lstStyle/>
          <a:p>
            <a:r>
              <a:rPr lang="en-US" sz="1900" b="1" dirty="0"/>
              <a:t>Output:</a:t>
            </a:r>
            <a:endParaRPr lang="en-IN" sz="1900" b="1" dirty="0"/>
          </a:p>
        </p:txBody>
      </p:sp>
      <p:pic>
        <p:nvPicPr>
          <p:cNvPr id="15" name="Picture 14">
            <a:extLst>
              <a:ext uri="{FF2B5EF4-FFF2-40B4-BE49-F238E27FC236}">
                <a16:creationId xmlns:a16="http://schemas.microsoft.com/office/drawing/2014/main" id="{C382E8F9-5A8C-DBBA-9B3B-8449A64D7E09}"/>
              </a:ext>
            </a:extLst>
          </p:cNvPr>
          <p:cNvPicPr>
            <a:picLocks noChangeAspect="1"/>
          </p:cNvPicPr>
          <p:nvPr/>
        </p:nvPicPr>
        <p:blipFill>
          <a:blip r:embed="rId4"/>
          <a:stretch>
            <a:fillRect/>
          </a:stretch>
        </p:blipFill>
        <p:spPr>
          <a:xfrm>
            <a:off x="6895127" y="1504335"/>
            <a:ext cx="2924583" cy="5353665"/>
          </a:xfrm>
          <a:prstGeom prst="rect">
            <a:avLst/>
          </a:prstGeom>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2" name="TextBox 1">
            <a:extLst>
              <a:ext uri="{FF2B5EF4-FFF2-40B4-BE49-F238E27FC236}">
                <a16:creationId xmlns:a16="http://schemas.microsoft.com/office/drawing/2014/main" id="{E4CD4CC8-1B31-A97C-772B-03D9AD74A73B}"/>
              </a:ext>
            </a:extLst>
          </p:cNvPr>
          <p:cNvSpPr txBox="1"/>
          <p:nvPr/>
        </p:nvSpPr>
        <p:spPr>
          <a:xfrm>
            <a:off x="658760" y="403123"/>
            <a:ext cx="10481187" cy="2139047"/>
          </a:xfrm>
          <a:prstGeom prst="rect">
            <a:avLst/>
          </a:prstGeom>
          <a:noFill/>
        </p:spPr>
        <p:txBody>
          <a:bodyPr wrap="square" rtlCol="0">
            <a:spAutoFit/>
          </a:bodyPr>
          <a:lstStyle/>
          <a:p>
            <a:r>
              <a:rPr lang="en-US" sz="1900" b="1" dirty="0"/>
              <a:t>Code 05:</a:t>
            </a:r>
          </a:p>
          <a:p>
            <a:pPr marL="342900" indent="-342900">
              <a:buFont typeface="Arial" panose="020B0604020202020204" pitchFamily="34" charset="0"/>
              <a:buChar char="•"/>
            </a:pPr>
            <a:r>
              <a:rPr lang="en-US" sz="1900" b="1" dirty="0"/>
              <a:t>In code 5 we learnt about how we can insert an image in our website by using &lt;</a:t>
            </a:r>
            <a:r>
              <a:rPr lang="en-US" sz="1900" b="1" dirty="0" err="1"/>
              <a:t>img</a:t>
            </a:r>
            <a:r>
              <a:rPr lang="en-US" sz="1900" b="1" dirty="0"/>
              <a:t> </a:t>
            </a:r>
            <a:r>
              <a:rPr lang="en-US" sz="1900" b="1" dirty="0" err="1"/>
              <a:t>src</a:t>
            </a:r>
            <a:r>
              <a:rPr lang="en-US" sz="1900" b="1" dirty="0"/>
              <a:t>&gt; tag</a:t>
            </a:r>
          </a:p>
          <a:p>
            <a:pPr marL="342900" indent="-342900">
              <a:buFont typeface="Arial" panose="020B0604020202020204" pitchFamily="34" charset="0"/>
              <a:buChar char="•"/>
            </a:pPr>
            <a:r>
              <a:rPr lang="en-US" sz="1900" b="1" dirty="0"/>
              <a:t>This tag has attribute to set the height and width of the image &lt; height="500“ width="500" &gt;</a:t>
            </a:r>
          </a:p>
          <a:p>
            <a:pPr marL="342900" indent="-342900">
              <a:buFont typeface="Arial" panose="020B0604020202020204" pitchFamily="34" charset="0"/>
              <a:buChar char="•"/>
            </a:pPr>
            <a:r>
              <a:rPr lang="en-US" sz="1900" b="1" dirty="0"/>
              <a:t>We were also taught different ways to insert an image being y saving an image in the designated folder as a .jpg file and calling it in the tag another way being by using the path link of your stored image and pasting it in the tag and the last being using an</a:t>
            </a:r>
          </a:p>
          <a:p>
            <a:pPr marL="342900" indent="-342900">
              <a:buFont typeface="Arial" panose="020B0604020202020204" pitchFamily="34" charset="0"/>
              <a:buChar char="•"/>
            </a:pPr>
            <a:r>
              <a:rPr lang="en-US" sz="1900" b="1" dirty="0"/>
              <a:t>online image without downloading directly pasting its link.</a:t>
            </a:r>
            <a:endParaRPr lang="en-IN" sz="1900" b="1" dirty="0"/>
          </a:p>
        </p:txBody>
      </p:sp>
      <p:sp>
        <p:nvSpPr>
          <p:cNvPr id="3" name="TextBox 2">
            <a:extLst>
              <a:ext uri="{FF2B5EF4-FFF2-40B4-BE49-F238E27FC236}">
                <a16:creationId xmlns:a16="http://schemas.microsoft.com/office/drawing/2014/main" id="{FA30C145-C0FA-DD26-EC68-CCCCFBCED05F}"/>
              </a:ext>
            </a:extLst>
          </p:cNvPr>
          <p:cNvSpPr txBox="1"/>
          <p:nvPr/>
        </p:nvSpPr>
        <p:spPr>
          <a:xfrm>
            <a:off x="766916" y="2450325"/>
            <a:ext cx="2281084" cy="384721"/>
          </a:xfrm>
          <a:prstGeom prst="rect">
            <a:avLst/>
          </a:prstGeom>
          <a:noFill/>
        </p:spPr>
        <p:txBody>
          <a:bodyPr wrap="square" rtlCol="0">
            <a:spAutoFit/>
          </a:bodyPr>
          <a:lstStyle/>
          <a:p>
            <a:r>
              <a:rPr lang="en-US" sz="1900" b="1" dirty="0"/>
              <a:t>Input:</a:t>
            </a:r>
            <a:endParaRPr lang="en-IN" sz="1900" b="1" dirty="0"/>
          </a:p>
        </p:txBody>
      </p:sp>
      <p:pic>
        <p:nvPicPr>
          <p:cNvPr id="6" name="Picture 5">
            <a:extLst>
              <a:ext uri="{FF2B5EF4-FFF2-40B4-BE49-F238E27FC236}">
                <a16:creationId xmlns:a16="http://schemas.microsoft.com/office/drawing/2014/main" id="{A4B373BA-E161-AA1E-7033-B28B495C9E4E}"/>
              </a:ext>
            </a:extLst>
          </p:cNvPr>
          <p:cNvPicPr>
            <a:picLocks noChangeAspect="1"/>
          </p:cNvPicPr>
          <p:nvPr/>
        </p:nvPicPr>
        <p:blipFill>
          <a:blip r:embed="rId3"/>
          <a:stretch>
            <a:fillRect/>
          </a:stretch>
        </p:blipFill>
        <p:spPr>
          <a:xfrm>
            <a:off x="0" y="2835046"/>
            <a:ext cx="12192000" cy="2215419"/>
          </a:xfrm>
          <a:prstGeom prst="rect">
            <a:avLst/>
          </a:prstGeom>
        </p:spPr>
      </p:pic>
      <p:pic>
        <p:nvPicPr>
          <p:cNvPr id="8" name="Picture 7">
            <a:extLst>
              <a:ext uri="{FF2B5EF4-FFF2-40B4-BE49-F238E27FC236}">
                <a16:creationId xmlns:a16="http://schemas.microsoft.com/office/drawing/2014/main" id="{A34BAD3C-1D66-4E6E-3564-7947553C8720}"/>
              </a:ext>
            </a:extLst>
          </p:cNvPr>
          <p:cNvPicPr>
            <a:picLocks noChangeAspect="1"/>
          </p:cNvPicPr>
          <p:nvPr/>
        </p:nvPicPr>
        <p:blipFill>
          <a:blip r:embed="rId4"/>
          <a:stretch>
            <a:fillRect/>
          </a:stretch>
        </p:blipFill>
        <p:spPr>
          <a:xfrm>
            <a:off x="2633179" y="5132439"/>
            <a:ext cx="6925642" cy="1643264"/>
          </a:xfrm>
          <a:prstGeom prst="rect">
            <a:avLst/>
          </a:prstGeom>
        </p:spPr>
      </p:pic>
      <p:sp>
        <p:nvSpPr>
          <p:cNvPr id="9" name="TextBox 8">
            <a:extLst>
              <a:ext uri="{FF2B5EF4-FFF2-40B4-BE49-F238E27FC236}">
                <a16:creationId xmlns:a16="http://schemas.microsoft.com/office/drawing/2014/main" id="{7C85DDC2-522B-7E3A-A20A-DB24053AAA6F}"/>
              </a:ext>
            </a:extLst>
          </p:cNvPr>
          <p:cNvSpPr txBox="1"/>
          <p:nvPr/>
        </p:nvSpPr>
        <p:spPr>
          <a:xfrm>
            <a:off x="766916" y="5270090"/>
            <a:ext cx="1189703" cy="384721"/>
          </a:xfrm>
          <a:prstGeom prst="rect">
            <a:avLst/>
          </a:prstGeom>
          <a:noFill/>
        </p:spPr>
        <p:txBody>
          <a:bodyPr wrap="square" rtlCol="0">
            <a:spAutoFit/>
          </a:bodyPr>
          <a:lstStyle/>
          <a:p>
            <a:r>
              <a:rPr lang="en-US" sz="1900" b="1" dirty="0"/>
              <a:t>Output:</a:t>
            </a:r>
            <a:endParaRPr lang="en-IN" sz="1900" b="1" dirty="0"/>
          </a:p>
        </p:txBody>
      </p:sp>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9B817C7-A2A2-5B22-23F5-1CC34A611E0A}"/>
              </a:ext>
            </a:extLst>
          </p:cNvPr>
          <p:cNvSpPr txBox="1"/>
          <p:nvPr/>
        </p:nvSpPr>
        <p:spPr>
          <a:xfrm>
            <a:off x="786580" y="422787"/>
            <a:ext cx="10314039" cy="1261884"/>
          </a:xfrm>
          <a:prstGeom prst="rect">
            <a:avLst/>
          </a:prstGeom>
          <a:noFill/>
        </p:spPr>
        <p:txBody>
          <a:bodyPr wrap="square" rtlCol="0">
            <a:spAutoFit/>
          </a:bodyPr>
          <a:lstStyle/>
          <a:p>
            <a:r>
              <a:rPr lang="en-US" sz="1900" b="1" dirty="0"/>
              <a:t>Code 06:</a:t>
            </a:r>
          </a:p>
          <a:p>
            <a:pPr marL="342900" indent="-342900">
              <a:buFont typeface="Arial" panose="020B0604020202020204" pitchFamily="34" charset="0"/>
              <a:buChar char="•"/>
            </a:pPr>
            <a:r>
              <a:rPr lang="en-US" sz="1900" b="1" dirty="0"/>
              <a:t>In this code we learnt about hyper links which are used to move between different pages of a website by the tag &lt;a </a:t>
            </a:r>
            <a:r>
              <a:rPr lang="en-US" sz="1900" b="1" dirty="0" err="1"/>
              <a:t>href</a:t>
            </a:r>
            <a:r>
              <a:rPr lang="en-US" sz="1900" b="1" dirty="0"/>
              <a:t>&gt;</a:t>
            </a:r>
          </a:p>
          <a:p>
            <a:pPr marL="342900" indent="-342900">
              <a:buFont typeface="Arial" panose="020B0604020202020204" pitchFamily="34" charset="0"/>
              <a:buChar char="•"/>
            </a:pPr>
            <a:r>
              <a:rPr lang="en-US" sz="1900" b="1" dirty="0"/>
              <a:t>The text written in this tag when clicked takes the user to the designated site link pasted</a:t>
            </a:r>
            <a:endParaRPr lang="en-IN" sz="1900" b="1" dirty="0"/>
          </a:p>
        </p:txBody>
      </p:sp>
      <p:sp>
        <p:nvSpPr>
          <p:cNvPr id="9" name="TextBox 8">
            <a:extLst>
              <a:ext uri="{FF2B5EF4-FFF2-40B4-BE49-F238E27FC236}">
                <a16:creationId xmlns:a16="http://schemas.microsoft.com/office/drawing/2014/main" id="{94D87814-3F73-9426-481A-6E9C25643755}"/>
              </a:ext>
            </a:extLst>
          </p:cNvPr>
          <p:cNvSpPr txBox="1"/>
          <p:nvPr/>
        </p:nvSpPr>
        <p:spPr>
          <a:xfrm>
            <a:off x="924232" y="1877961"/>
            <a:ext cx="2123768" cy="384721"/>
          </a:xfrm>
          <a:prstGeom prst="rect">
            <a:avLst/>
          </a:prstGeom>
          <a:noFill/>
        </p:spPr>
        <p:txBody>
          <a:bodyPr wrap="square" rtlCol="0">
            <a:spAutoFit/>
          </a:bodyPr>
          <a:lstStyle/>
          <a:p>
            <a:r>
              <a:rPr lang="en-US" sz="1900" b="1" dirty="0"/>
              <a:t>Input:</a:t>
            </a:r>
            <a:endParaRPr lang="en-IN" sz="1900" b="1" dirty="0"/>
          </a:p>
        </p:txBody>
      </p:sp>
      <p:pic>
        <p:nvPicPr>
          <p:cNvPr id="11" name="Picture 10">
            <a:extLst>
              <a:ext uri="{FF2B5EF4-FFF2-40B4-BE49-F238E27FC236}">
                <a16:creationId xmlns:a16="http://schemas.microsoft.com/office/drawing/2014/main" id="{A95889CC-6547-2E7D-6D46-445C864EE6B9}"/>
              </a:ext>
            </a:extLst>
          </p:cNvPr>
          <p:cNvPicPr>
            <a:picLocks noChangeAspect="1"/>
          </p:cNvPicPr>
          <p:nvPr/>
        </p:nvPicPr>
        <p:blipFill>
          <a:blip r:embed="rId3"/>
          <a:stretch>
            <a:fillRect/>
          </a:stretch>
        </p:blipFill>
        <p:spPr>
          <a:xfrm>
            <a:off x="1685309" y="1877961"/>
            <a:ext cx="9218665" cy="2717358"/>
          </a:xfrm>
          <a:prstGeom prst="rect">
            <a:avLst/>
          </a:prstGeom>
        </p:spPr>
      </p:pic>
      <p:sp>
        <p:nvSpPr>
          <p:cNvPr id="12" name="TextBox 11">
            <a:extLst>
              <a:ext uri="{FF2B5EF4-FFF2-40B4-BE49-F238E27FC236}">
                <a16:creationId xmlns:a16="http://schemas.microsoft.com/office/drawing/2014/main" id="{543A4C68-AF22-57B5-809C-BD686831CF69}"/>
              </a:ext>
            </a:extLst>
          </p:cNvPr>
          <p:cNvSpPr txBox="1"/>
          <p:nvPr/>
        </p:nvSpPr>
        <p:spPr>
          <a:xfrm>
            <a:off x="924232" y="4788609"/>
            <a:ext cx="1356852" cy="384721"/>
          </a:xfrm>
          <a:prstGeom prst="rect">
            <a:avLst/>
          </a:prstGeom>
          <a:noFill/>
        </p:spPr>
        <p:txBody>
          <a:bodyPr wrap="square" rtlCol="0">
            <a:spAutoFit/>
          </a:bodyPr>
          <a:lstStyle/>
          <a:p>
            <a:r>
              <a:rPr lang="en-US" sz="1900" b="1" dirty="0"/>
              <a:t>Output:</a:t>
            </a:r>
            <a:endParaRPr lang="en-IN" sz="1900" b="1" dirty="0"/>
          </a:p>
        </p:txBody>
      </p:sp>
      <p:pic>
        <p:nvPicPr>
          <p:cNvPr id="14" name="Picture 13">
            <a:extLst>
              <a:ext uri="{FF2B5EF4-FFF2-40B4-BE49-F238E27FC236}">
                <a16:creationId xmlns:a16="http://schemas.microsoft.com/office/drawing/2014/main" id="{18935D44-833B-1764-03F3-FBA38601732B}"/>
              </a:ext>
            </a:extLst>
          </p:cNvPr>
          <p:cNvPicPr>
            <a:picLocks noChangeAspect="1"/>
          </p:cNvPicPr>
          <p:nvPr/>
        </p:nvPicPr>
        <p:blipFill>
          <a:blip r:embed="rId4"/>
          <a:stretch>
            <a:fillRect/>
          </a:stretch>
        </p:blipFill>
        <p:spPr>
          <a:xfrm>
            <a:off x="1986116" y="5241856"/>
            <a:ext cx="5134692" cy="476316"/>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9" name="TextBox 8">
            <a:extLst>
              <a:ext uri="{FF2B5EF4-FFF2-40B4-BE49-F238E27FC236}">
                <a16:creationId xmlns:a16="http://schemas.microsoft.com/office/drawing/2014/main" id="{B2AB4E10-2F45-7DAE-702E-5560C2A4401A}"/>
              </a:ext>
            </a:extLst>
          </p:cNvPr>
          <p:cNvSpPr txBox="1"/>
          <p:nvPr/>
        </p:nvSpPr>
        <p:spPr>
          <a:xfrm>
            <a:off x="934065" y="363794"/>
            <a:ext cx="9704438" cy="969496"/>
          </a:xfrm>
          <a:prstGeom prst="rect">
            <a:avLst/>
          </a:prstGeom>
          <a:noFill/>
        </p:spPr>
        <p:txBody>
          <a:bodyPr wrap="square" rtlCol="0">
            <a:spAutoFit/>
          </a:bodyPr>
          <a:lstStyle/>
          <a:p>
            <a:r>
              <a:rPr lang="en-US" sz="1900" b="1" dirty="0"/>
              <a:t>Code 07:</a:t>
            </a:r>
          </a:p>
          <a:p>
            <a:pPr marL="342900" indent="-342900">
              <a:buFont typeface="Arial" panose="020B0604020202020204" pitchFamily="34" charset="0"/>
              <a:buChar char="•"/>
            </a:pPr>
            <a:r>
              <a:rPr lang="en-US" sz="1900" b="1" dirty="0"/>
              <a:t>In this code we learnt about the heading tag &lt;h1&gt; being the biggest and &lt;h6&gt; the smallest</a:t>
            </a:r>
          </a:p>
          <a:p>
            <a:pPr marL="342900" indent="-342900">
              <a:buFont typeface="Arial" panose="020B0604020202020204" pitchFamily="34" charset="0"/>
              <a:buChar char="•"/>
            </a:pPr>
            <a:r>
              <a:rPr lang="en-US" sz="1900" b="1" dirty="0"/>
              <a:t>Also did we learn about the attributes of the heading tag to change color of the text</a:t>
            </a:r>
            <a:endParaRPr lang="en-IN" sz="1900" b="1" dirty="0"/>
          </a:p>
        </p:txBody>
      </p:sp>
      <p:sp>
        <p:nvSpPr>
          <p:cNvPr id="10" name="TextBox 9">
            <a:extLst>
              <a:ext uri="{FF2B5EF4-FFF2-40B4-BE49-F238E27FC236}">
                <a16:creationId xmlns:a16="http://schemas.microsoft.com/office/drawing/2014/main" id="{62A57AB4-7240-82C5-5A4B-811B65F32604}"/>
              </a:ext>
            </a:extLst>
          </p:cNvPr>
          <p:cNvSpPr txBox="1"/>
          <p:nvPr/>
        </p:nvSpPr>
        <p:spPr>
          <a:xfrm>
            <a:off x="934065" y="1361136"/>
            <a:ext cx="1966452" cy="384721"/>
          </a:xfrm>
          <a:prstGeom prst="rect">
            <a:avLst/>
          </a:prstGeom>
          <a:noFill/>
        </p:spPr>
        <p:txBody>
          <a:bodyPr wrap="square" rtlCol="0">
            <a:spAutoFit/>
          </a:bodyPr>
          <a:lstStyle/>
          <a:p>
            <a:r>
              <a:rPr lang="en-US" sz="1900" b="1" dirty="0"/>
              <a:t>Input:</a:t>
            </a:r>
            <a:endParaRPr lang="en-IN" sz="1900" b="1" dirty="0"/>
          </a:p>
        </p:txBody>
      </p:sp>
      <p:pic>
        <p:nvPicPr>
          <p:cNvPr id="12" name="Picture 11">
            <a:extLst>
              <a:ext uri="{FF2B5EF4-FFF2-40B4-BE49-F238E27FC236}">
                <a16:creationId xmlns:a16="http://schemas.microsoft.com/office/drawing/2014/main" id="{66225ACB-8928-FBE5-2EBD-307B6B0A8A55}"/>
              </a:ext>
            </a:extLst>
          </p:cNvPr>
          <p:cNvPicPr>
            <a:picLocks noChangeAspect="1"/>
          </p:cNvPicPr>
          <p:nvPr/>
        </p:nvPicPr>
        <p:blipFill>
          <a:blip r:embed="rId2"/>
          <a:stretch>
            <a:fillRect/>
          </a:stretch>
        </p:blipFill>
        <p:spPr>
          <a:xfrm>
            <a:off x="1656505" y="1745857"/>
            <a:ext cx="5496692" cy="3639058"/>
          </a:xfrm>
          <a:prstGeom prst="rect">
            <a:avLst/>
          </a:prstGeom>
        </p:spPr>
      </p:pic>
      <p:pic>
        <p:nvPicPr>
          <p:cNvPr id="14" name="Picture 13">
            <a:extLst>
              <a:ext uri="{FF2B5EF4-FFF2-40B4-BE49-F238E27FC236}">
                <a16:creationId xmlns:a16="http://schemas.microsoft.com/office/drawing/2014/main" id="{DA1C1712-BDB8-913E-C987-6F6C42F2FB1F}"/>
              </a:ext>
            </a:extLst>
          </p:cNvPr>
          <p:cNvPicPr>
            <a:picLocks noChangeAspect="1"/>
          </p:cNvPicPr>
          <p:nvPr/>
        </p:nvPicPr>
        <p:blipFill>
          <a:blip r:embed="rId3"/>
          <a:stretch>
            <a:fillRect/>
          </a:stretch>
        </p:blipFill>
        <p:spPr>
          <a:xfrm>
            <a:off x="8636487" y="1778673"/>
            <a:ext cx="3296110" cy="4715533"/>
          </a:xfrm>
          <a:prstGeom prst="rect">
            <a:avLst/>
          </a:prstGeom>
        </p:spPr>
      </p:pic>
      <p:sp>
        <p:nvSpPr>
          <p:cNvPr id="15" name="TextBox 14">
            <a:extLst>
              <a:ext uri="{FF2B5EF4-FFF2-40B4-BE49-F238E27FC236}">
                <a16:creationId xmlns:a16="http://schemas.microsoft.com/office/drawing/2014/main" id="{96C95FEA-4B58-744C-9097-9AC59AE6E0E6}"/>
              </a:ext>
            </a:extLst>
          </p:cNvPr>
          <p:cNvSpPr txBox="1"/>
          <p:nvPr/>
        </p:nvSpPr>
        <p:spPr>
          <a:xfrm>
            <a:off x="7443019" y="1553496"/>
            <a:ext cx="1193468" cy="384721"/>
          </a:xfrm>
          <a:prstGeom prst="rect">
            <a:avLst/>
          </a:prstGeom>
          <a:noFill/>
        </p:spPr>
        <p:txBody>
          <a:bodyPr wrap="square" rtlCol="0">
            <a:spAutoFit/>
          </a:bodyPr>
          <a:lstStyle/>
          <a:p>
            <a:r>
              <a:rPr lang="en-US" sz="1900" b="1" dirty="0"/>
              <a:t>Output:</a:t>
            </a:r>
            <a:endParaRPr lang="en-IN" sz="1900" b="1" dirty="0"/>
          </a:p>
        </p:txBody>
      </p:sp>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10" name="TextBox 9">
            <a:extLst>
              <a:ext uri="{FF2B5EF4-FFF2-40B4-BE49-F238E27FC236}">
                <a16:creationId xmlns:a16="http://schemas.microsoft.com/office/drawing/2014/main" id="{6C00F510-518F-F10C-E153-D831FC9E86CE}"/>
              </a:ext>
            </a:extLst>
          </p:cNvPr>
          <p:cNvSpPr txBox="1"/>
          <p:nvPr/>
        </p:nvSpPr>
        <p:spPr>
          <a:xfrm>
            <a:off x="786580" y="363794"/>
            <a:ext cx="10677833" cy="646331"/>
          </a:xfrm>
          <a:prstGeom prst="rect">
            <a:avLst/>
          </a:prstGeom>
          <a:noFill/>
        </p:spPr>
        <p:txBody>
          <a:bodyPr wrap="square" rtlCol="0">
            <a:spAutoFit/>
          </a:bodyPr>
          <a:lstStyle/>
          <a:p>
            <a:r>
              <a:rPr lang="en-US" dirty="0"/>
              <a:t>Code 08:</a:t>
            </a:r>
          </a:p>
          <a:p>
            <a:pPr marL="285750" indent="-285750">
              <a:buFont typeface="Arial" panose="020B0604020202020204" pitchFamily="34" charset="0"/>
              <a:buChar char="•"/>
            </a:pPr>
            <a:r>
              <a:rPr lang="en-US" dirty="0"/>
              <a:t>This code was designated to display a profile about yourself using what ever we had learnt till now</a:t>
            </a:r>
            <a:endParaRPr lang="en-IN" dirty="0"/>
          </a:p>
        </p:txBody>
      </p:sp>
      <p:pic>
        <p:nvPicPr>
          <p:cNvPr id="12" name="Picture 11">
            <a:extLst>
              <a:ext uri="{FF2B5EF4-FFF2-40B4-BE49-F238E27FC236}">
                <a16:creationId xmlns:a16="http://schemas.microsoft.com/office/drawing/2014/main" id="{819B3F05-88CB-F130-32B1-488BC41398EF}"/>
              </a:ext>
            </a:extLst>
          </p:cNvPr>
          <p:cNvPicPr>
            <a:picLocks noChangeAspect="1"/>
          </p:cNvPicPr>
          <p:nvPr/>
        </p:nvPicPr>
        <p:blipFill>
          <a:blip r:embed="rId3"/>
          <a:stretch>
            <a:fillRect/>
          </a:stretch>
        </p:blipFill>
        <p:spPr>
          <a:xfrm>
            <a:off x="1715728" y="1295218"/>
            <a:ext cx="8079032" cy="5484081"/>
          </a:xfrm>
          <a:prstGeom prst="rect">
            <a:avLst/>
          </a:prstGeom>
        </p:spPr>
      </p:pic>
      <p:sp>
        <p:nvSpPr>
          <p:cNvPr id="13" name="TextBox 12">
            <a:extLst>
              <a:ext uri="{FF2B5EF4-FFF2-40B4-BE49-F238E27FC236}">
                <a16:creationId xmlns:a16="http://schemas.microsoft.com/office/drawing/2014/main" id="{AF62030D-1171-1C9C-1714-49577DE75929}"/>
              </a:ext>
            </a:extLst>
          </p:cNvPr>
          <p:cNvSpPr txBox="1"/>
          <p:nvPr/>
        </p:nvSpPr>
        <p:spPr>
          <a:xfrm>
            <a:off x="786580" y="906901"/>
            <a:ext cx="1858296" cy="384721"/>
          </a:xfrm>
          <a:prstGeom prst="rect">
            <a:avLst/>
          </a:prstGeom>
          <a:noFill/>
        </p:spPr>
        <p:txBody>
          <a:bodyPr wrap="square" rtlCol="0">
            <a:spAutoFit/>
          </a:bodyPr>
          <a:lstStyle/>
          <a:p>
            <a:r>
              <a:rPr lang="en-US" sz="1900" b="1" dirty="0"/>
              <a:t>Input:</a:t>
            </a:r>
            <a:endParaRPr lang="en-IN" sz="1900" b="1" dirty="0"/>
          </a:p>
        </p:txBody>
      </p:sp>
    </p:spTree>
    <p:extLst>
      <p:ext uri="{BB962C8B-B14F-4D97-AF65-F5344CB8AC3E}">
        <p14:creationId xmlns:p14="http://schemas.microsoft.com/office/powerpoint/2010/main" val="413214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pic>
        <p:nvPicPr>
          <p:cNvPr id="6" name="Picture 5">
            <a:extLst>
              <a:ext uri="{FF2B5EF4-FFF2-40B4-BE49-F238E27FC236}">
                <a16:creationId xmlns:a16="http://schemas.microsoft.com/office/drawing/2014/main" id="{C76BDC32-8370-F36E-F583-182E42042242}"/>
              </a:ext>
            </a:extLst>
          </p:cNvPr>
          <p:cNvPicPr>
            <a:picLocks noChangeAspect="1"/>
          </p:cNvPicPr>
          <p:nvPr/>
        </p:nvPicPr>
        <p:blipFill>
          <a:blip r:embed="rId3"/>
          <a:stretch>
            <a:fillRect/>
          </a:stretch>
        </p:blipFill>
        <p:spPr>
          <a:xfrm>
            <a:off x="2851616" y="629264"/>
            <a:ext cx="4266678" cy="5855110"/>
          </a:xfrm>
          <a:prstGeom prst="rect">
            <a:avLst/>
          </a:prstGeom>
        </p:spPr>
      </p:pic>
      <p:sp>
        <p:nvSpPr>
          <p:cNvPr id="7" name="TextBox 6">
            <a:extLst>
              <a:ext uri="{FF2B5EF4-FFF2-40B4-BE49-F238E27FC236}">
                <a16:creationId xmlns:a16="http://schemas.microsoft.com/office/drawing/2014/main" id="{66DE7C00-DA42-0C66-823E-7DF7872CEC26}"/>
              </a:ext>
            </a:extLst>
          </p:cNvPr>
          <p:cNvSpPr txBox="1"/>
          <p:nvPr/>
        </p:nvSpPr>
        <p:spPr>
          <a:xfrm>
            <a:off x="757084" y="422787"/>
            <a:ext cx="1671484" cy="384721"/>
          </a:xfrm>
          <a:prstGeom prst="rect">
            <a:avLst/>
          </a:prstGeom>
          <a:noFill/>
        </p:spPr>
        <p:txBody>
          <a:bodyPr wrap="square" rtlCol="0">
            <a:spAutoFit/>
          </a:bodyPr>
          <a:lstStyle/>
          <a:p>
            <a:r>
              <a:rPr lang="en-US" sz="1900" b="1" dirty="0"/>
              <a:t>Output:</a:t>
            </a:r>
            <a:endParaRPr lang="en-IN" sz="1900" b="1" dirty="0"/>
          </a:p>
        </p:txBody>
      </p:sp>
    </p:spTree>
    <p:extLst>
      <p:ext uri="{BB962C8B-B14F-4D97-AF65-F5344CB8AC3E}">
        <p14:creationId xmlns:p14="http://schemas.microsoft.com/office/powerpoint/2010/main" val="3064996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728B3F-CC84-66A8-1427-0540AD14E515}"/>
              </a:ext>
            </a:extLst>
          </p:cNvPr>
          <p:cNvSpPr txBox="1"/>
          <p:nvPr/>
        </p:nvSpPr>
        <p:spPr>
          <a:xfrm>
            <a:off x="678426" y="157315"/>
            <a:ext cx="10746658" cy="2062103"/>
          </a:xfrm>
          <a:prstGeom prst="rect">
            <a:avLst/>
          </a:prstGeom>
          <a:noFill/>
        </p:spPr>
        <p:txBody>
          <a:bodyPr wrap="square" rtlCol="0">
            <a:spAutoFit/>
          </a:bodyPr>
          <a:lstStyle/>
          <a:p>
            <a:r>
              <a:rPr lang="en-US" sz="1900" b="1" u="sng" dirty="0"/>
              <a:t>DAY 02:</a:t>
            </a:r>
          </a:p>
          <a:p>
            <a:r>
              <a:rPr lang="en-US" dirty="0"/>
              <a:t>We stared html again and the codes are as follows:</a:t>
            </a:r>
          </a:p>
          <a:p>
            <a:endParaRPr lang="en-US" dirty="0"/>
          </a:p>
          <a:p>
            <a:r>
              <a:rPr lang="en-US" sz="1900" b="1" dirty="0"/>
              <a:t>Code 1:</a:t>
            </a:r>
          </a:p>
          <a:p>
            <a:pPr marL="285750" indent="-285750">
              <a:buFont typeface="Arial" panose="020B0604020202020204" pitchFamily="34" charset="0"/>
              <a:buChar char="•"/>
            </a:pPr>
            <a:r>
              <a:rPr lang="en-US" dirty="0"/>
              <a:t>We learnt about how to make a table using codes it starts by using &lt;table&gt; tab to open a table it also has attributes to set table border cell spacing and alignment</a:t>
            </a:r>
          </a:p>
          <a:p>
            <a:pPr marL="285750" indent="-285750">
              <a:buFont typeface="Arial" panose="020B0604020202020204" pitchFamily="34" charset="0"/>
              <a:buChar char="•"/>
            </a:pPr>
            <a:r>
              <a:rPr lang="en-US" dirty="0"/>
              <a:t>Then we use &lt;tr&gt; tag to enable a new row &lt;td&gt; tags to write the content of the row and so on.</a:t>
            </a:r>
            <a:endParaRPr lang="en-IN" dirty="0"/>
          </a:p>
        </p:txBody>
      </p:sp>
      <p:sp>
        <p:nvSpPr>
          <p:cNvPr id="5" name="TextBox 4">
            <a:extLst>
              <a:ext uri="{FF2B5EF4-FFF2-40B4-BE49-F238E27FC236}">
                <a16:creationId xmlns:a16="http://schemas.microsoft.com/office/drawing/2014/main" id="{16A03ACB-E68C-26C8-C1E4-5F7524A8D128}"/>
              </a:ext>
            </a:extLst>
          </p:cNvPr>
          <p:cNvSpPr txBox="1"/>
          <p:nvPr/>
        </p:nvSpPr>
        <p:spPr>
          <a:xfrm>
            <a:off x="766916" y="2219418"/>
            <a:ext cx="2094271" cy="384721"/>
          </a:xfrm>
          <a:prstGeom prst="rect">
            <a:avLst/>
          </a:prstGeom>
          <a:noFill/>
        </p:spPr>
        <p:txBody>
          <a:bodyPr wrap="square" rtlCol="0">
            <a:spAutoFit/>
          </a:bodyPr>
          <a:lstStyle/>
          <a:p>
            <a:r>
              <a:rPr lang="en-US" sz="1900" b="1" dirty="0"/>
              <a:t>Input:</a:t>
            </a:r>
            <a:endParaRPr lang="en-IN" sz="1900" b="1" dirty="0"/>
          </a:p>
        </p:txBody>
      </p:sp>
      <p:pic>
        <p:nvPicPr>
          <p:cNvPr id="10" name="Picture 9">
            <a:extLst>
              <a:ext uri="{FF2B5EF4-FFF2-40B4-BE49-F238E27FC236}">
                <a16:creationId xmlns:a16="http://schemas.microsoft.com/office/drawing/2014/main" id="{56ECE911-BB18-55D6-F164-8CDECFC0CDDF}"/>
              </a:ext>
            </a:extLst>
          </p:cNvPr>
          <p:cNvPicPr>
            <a:picLocks noChangeAspect="1"/>
          </p:cNvPicPr>
          <p:nvPr/>
        </p:nvPicPr>
        <p:blipFill>
          <a:blip r:embed="rId3"/>
          <a:stretch>
            <a:fillRect/>
          </a:stretch>
        </p:blipFill>
        <p:spPr>
          <a:xfrm>
            <a:off x="1853380" y="2376734"/>
            <a:ext cx="6235866" cy="4481266"/>
          </a:xfrm>
          <a:prstGeom prst="rect">
            <a:avLst/>
          </a:prstGeom>
        </p:spPr>
      </p:pic>
    </p:spTree>
    <p:extLst>
      <p:ext uri="{BB962C8B-B14F-4D97-AF65-F5344CB8AC3E}">
        <p14:creationId xmlns:p14="http://schemas.microsoft.com/office/powerpoint/2010/main" val="2188828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2797B1-D9AB-B477-125E-0F268885C3B2}"/>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
        <p:nvSpPr>
          <p:cNvPr id="3" name="TextBox 2">
            <a:extLst>
              <a:ext uri="{FF2B5EF4-FFF2-40B4-BE49-F238E27FC236}">
                <a16:creationId xmlns:a16="http://schemas.microsoft.com/office/drawing/2014/main" id="{C26A7FB3-B2C1-AE54-6082-6C4991D6864A}"/>
              </a:ext>
            </a:extLst>
          </p:cNvPr>
          <p:cNvSpPr txBox="1"/>
          <p:nvPr/>
        </p:nvSpPr>
        <p:spPr>
          <a:xfrm>
            <a:off x="462116" y="314632"/>
            <a:ext cx="2782529" cy="384721"/>
          </a:xfrm>
          <a:prstGeom prst="rect">
            <a:avLst/>
          </a:prstGeom>
          <a:noFill/>
        </p:spPr>
        <p:txBody>
          <a:bodyPr wrap="square" rtlCol="0">
            <a:spAutoFit/>
          </a:bodyPr>
          <a:lstStyle/>
          <a:p>
            <a:r>
              <a:rPr lang="en-US" sz="1900" b="1" dirty="0"/>
              <a:t>Output:</a:t>
            </a:r>
            <a:endParaRPr lang="en-IN" sz="1900" b="1" dirty="0"/>
          </a:p>
        </p:txBody>
      </p:sp>
      <p:pic>
        <p:nvPicPr>
          <p:cNvPr id="5" name="Picture 4">
            <a:extLst>
              <a:ext uri="{FF2B5EF4-FFF2-40B4-BE49-F238E27FC236}">
                <a16:creationId xmlns:a16="http://schemas.microsoft.com/office/drawing/2014/main" id="{F8680543-DA64-2EFC-FA9F-DF0086396969}"/>
              </a:ext>
            </a:extLst>
          </p:cNvPr>
          <p:cNvPicPr>
            <a:picLocks noChangeAspect="1"/>
          </p:cNvPicPr>
          <p:nvPr/>
        </p:nvPicPr>
        <p:blipFill>
          <a:blip r:embed="rId2"/>
          <a:stretch>
            <a:fillRect/>
          </a:stretch>
        </p:blipFill>
        <p:spPr>
          <a:xfrm>
            <a:off x="0" y="814914"/>
            <a:ext cx="12192000" cy="1465007"/>
          </a:xfrm>
          <a:prstGeom prst="rect">
            <a:avLst/>
          </a:prstGeom>
        </p:spPr>
      </p:pic>
      <p:sp>
        <p:nvSpPr>
          <p:cNvPr id="6" name="TextBox 5">
            <a:extLst>
              <a:ext uri="{FF2B5EF4-FFF2-40B4-BE49-F238E27FC236}">
                <a16:creationId xmlns:a16="http://schemas.microsoft.com/office/drawing/2014/main" id="{C12A8859-E6E9-E20E-2E98-A5A9E6C539BA}"/>
              </a:ext>
            </a:extLst>
          </p:cNvPr>
          <p:cNvSpPr txBox="1"/>
          <p:nvPr/>
        </p:nvSpPr>
        <p:spPr>
          <a:xfrm>
            <a:off x="462116" y="2595715"/>
            <a:ext cx="11189110" cy="1554272"/>
          </a:xfrm>
          <a:prstGeom prst="rect">
            <a:avLst/>
          </a:prstGeom>
          <a:noFill/>
        </p:spPr>
        <p:txBody>
          <a:bodyPr wrap="square" rtlCol="0">
            <a:spAutoFit/>
          </a:bodyPr>
          <a:lstStyle/>
          <a:p>
            <a:r>
              <a:rPr lang="en-US" sz="1900" b="1" dirty="0"/>
              <a:t>CODE 02:</a:t>
            </a:r>
          </a:p>
          <a:p>
            <a:pPr marL="342900" indent="-342900">
              <a:buFont typeface="Arial" panose="020B0604020202020204" pitchFamily="34" charset="0"/>
              <a:buChar char="•"/>
            </a:pPr>
            <a:r>
              <a:rPr lang="en-US" sz="1900" b="1" dirty="0"/>
              <a:t>In this code we learnt hoe we can insert a form in a page by using &lt;form&gt; tag</a:t>
            </a:r>
          </a:p>
          <a:p>
            <a:pPr marL="342900" indent="-342900">
              <a:buFont typeface="Arial" panose="020B0604020202020204" pitchFamily="34" charset="0"/>
              <a:buChar char="•"/>
            </a:pPr>
            <a:r>
              <a:rPr lang="en-US" sz="1900" b="1" dirty="0"/>
              <a:t>The form tag uses &lt;input&gt; tag which has </a:t>
            </a:r>
            <a:r>
              <a:rPr lang="en-US" sz="1900" b="1" dirty="0" err="1"/>
              <a:t>css</a:t>
            </a:r>
            <a:r>
              <a:rPr lang="en-US" sz="1900" b="1" dirty="0"/>
              <a:t> to style the type of content being entered &lt;input type="text" name="</a:t>
            </a:r>
            <a:r>
              <a:rPr lang="en-US" sz="1900" b="1" dirty="0" err="1"/>
              <a:t>sname</a:t>
            </a:r>
            <a:r>
              <a:rPr lang="en-US" sz="1900" b="1" dirty="0"/>
              <a:t>" placeholder="enter your name"&gt; type defines text or numbers and place holder acts as the text displayed in the cell.</a:t>
            </a:r>
            <a:endParaRPr lang="en-IN" sz="1900" b="1" dirty="0"/>
          </a:p>
        </p:txBody>
      </p:sp>
      <p:sp>
        <p:nvSpPr>
          <p:cNvPr id="7" name="TextBox 6">
            <a:extLst>
              <a:ext uri="{FF2B5EF4-FFF2-40B4-BE49-F238E27FC236}">
                <a16:creationId xmlns:a16="http://schemas.microsoft.com/office/drawing/2014/main" id="{EA2C84B9-A60D-06C8-ECA7-BEE67CAD9CC7}"/>
              </a:ext>
            </a:extLst>
          </p:cNvPr>
          <p:cNvSpPr txBox="1"/>
          <p:nvPr/>
        </p:nvSpPr>
        <p:spPr>
          <a:xfrm>
            <a:off x="462116" y="4149987"/>
            <a:ext cx="1514168" cy="384721"/>
          </a:xfrm>
          <a:prstGeom prst="rect">
            <a:avLst/>
          </a:prstGeom>
          <a:noFill/>
        </p:spPr>
        <p:txBody>
          <a:bodyPr wrap="square" rtlCol="0">
            <a:spAutoFit/>
          </a:bodyPr>
          <a:lstStyle/>
          <a:p>
            <a:r>
              <a:rPr lang="en-US" sz="1900" b="1" dirty="0"/>
              <a:t>Input:</a:t>
            </a:r>
            <a:endParaRPr lang="en-IN" sz="1900" b="1" dirty="0"/>
          </a:p>
        </p:txBody>
      </p:sp>
      <p:pic>
        <p:nvPicPr>
          <p:cNvPr id="9" name="Picture 8">
            <a:extLst>
              <a:ext uri="{FF2B5EF4-FFF2-40B4-BE49-F238E27FC236}">
                <a16:creationId xmlns:a16="http://schemas.microsoft.com/office/drawing/2014/main" id="{A53A1932-C1E4-B63C-1B0C-E0E1D0AF577E}"/>
              </a:ext>
            </a:extLst>
          </p:cNvPr>
          <p:cNvPicPr>
            <a:picLocks noChangeAspect="1"/>
          </p:cNvPicPr>
          <p:nvPr/>
        </p:nvPicPr>
        <p:blipFill>
          <a:blip r:embed="rId3"/>
          <a:stretch>
            <a:fillRect/>
          </a:stretch>
        </p:blipFill>
        <p:spPr>
          <a:xfrm>
            <a:off x="1219200" y="4076312"/>
            <a:ext cx="7725853" cy="2781688"/>
          </a:xfrm>
          <a:prstGeom prst="rect">
            <a:avLst/>
          </a:prstGeom>
        </p:spPr>
      </p:pic>
      <p:pic>
        <p:nvPicPr>
          <p:cNvPr id="11" name="Picture 10">
            <a:extLst>
              <a:ext uri="{FF2B5EF4-FFF2-40B4-BE49-F238E27FC236}">
                <a16:creationId xmlns:a16="http://schemas.microsoft.com/office/drawing/2014/main" id="{A0D28988-9A13-55C6-A0D7-B1331EDA4FAB}"/>
              </a:ext>
            </a:extLst>
          </p:cNvPr>
          <p:cNvPicPr>
            <a:picLocks noChangeAspect="1"/>
          </p:cNvPicPr>
          <p:nvPr/>
        </p:nvPicPr>
        <p:blipFill>
          <a:blip r:embed="rId4"/>
          <a:stretch>
            <a:fillRect/>
          </a:stretch>
        </p:blipFill>
        <p:spPr>
          <a:xfrm>
            <a:off x="9399592" y="4534708"/>
            <a:ext cx="2524477" cy="905001"/>
          </a:xfrm>
          <a:prstGeom prst="rect">
            <a:avLst/>
          </a:prstGeom>
        </p:spPr>
      </p:pic>
      <p:sp>
        <p:nvSpPr>
          <p:cNvPr id="13" name="TextBox 12">
            <a:extLst>
              <a:ext uri="{FF2B5EF4-FFF2-40B4-BE49-F238E27FC236}">
                <a16:creationId xmlns:a16="http://schemas.microsoft.com/office/drawing/2014/main" id="{F6CC08F0-4805-ABCD-7DAA-2CA5B051EDF3}"/>
              </a:ext>
            </a:extLst>
          </p:cNvPr>
          <p:cNvSpPr txBox="1"/>
          <p:nvPr/>
        </p:nvSpPr>
        <p:spPr>
          <a:xfrm>
            <a:off x="9285415" y="4082069"/>
            <a:ext cx="2638654" cy="369332"/>
          </a:xfrm>
          <a:prstGeom prst="rect">
            <a:avLst/>
          </a:prstGeom>
          <a:noFill/>
        </p:spPr>
        <p:txBody>
          <a:bodyPr wrap="square">
            <a:spAutoFit/>
          </a:bodyPr>
          <a:lstStyle/>
          <a:p>
            <a:r>
              <a:rPr lang="en-US" sz="1800" b="1" dirty="0"/>
              <a:t>Output:</a:t>
            </a:r>
            <a:endParaRPr lang="en-IN" sz="1800" b="1" dirty="0"/>
          </a:p>
        </p:txBody>
      </p:sp>
    </p:spTree>
    <p:extLst>
      <p:ext uri="{BB962C8B-B14F-4D97-AF65-F5344CB8AC3E}">
        <p14:creationId xmlns:p14="http://schemas.microsoft.com/office/powerpoint/2010/main" val="2329316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B2FDF8-CCC7-0632-A273-2D0CDB44F28D}"/>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
        <p:nvSpPr>
          <p:cNvPr id="4" name="TextBox 3">
            <a:extLst>
              <a:ext uri="{FF2B5EF4-FFF2-40B4-BE49-F238E27FC236}">
                <a16:creationId xmlns:a16="http://schemas.microsoft.com/office/drawing/2014/main" id="{E385D1D7-878F-8F65-60DC-C2D4A4304C20}"/>
              </a:ext>
            </a:extLst>
          </p:cNvPr>
          <p:cNvSpPr txBox="1"/>
          <p:nvPr/>
        </p:nvSpPr>
        <p:spPr>
          <a:xfrm>
            <a:off x="589935" y="432619"/>
            <a:ext cx="11041626" cy="1492716"/>
          </a:xfrm>
          <a:prstGeom prst="rect">
            <a:avLst/>
          </a:prstGeom>
          <a:noFill/>
        </p:spPr>
        <p:txBody>
          <a:bodyPr wrap="square" rtlCol="0">
            <a:spAutoFit/>
          </a:bodyPr>
          <a:lstStyle/>
          <a:p>
            <a:r>
              <a:rPr lang="en-US" sz="1900" b="1" dirty="0"/>
              <a:t>CODE 03:</a:t>
            </a:r>
          </a:p>
          <a:p>
            <a:pPr marL="285750" indent="-285750">
              <a:buFont typeface="Arial" panose="020B0604020202020204" pitchFamily="34" charset="0"/>
              <a:buChar char="•"/>
            </a:pPr>
            <a:r>
              <a:rPr lang="en-US" dirty="0"/>
              <a:t>This code made us learn additional styling in form tag</a:t>
            </a:r>
          </a:p>
          <a:p>
            <a:pPr marL="285750" indent="-285750">
              <a:buFont typeface="Arial" panose="020B0604020202020204" pitchFamily="34" charset="0"/>
              <a:buChar char="•"/>
            </a:pPr>
            <a:r>
              <a:rPr lang="en-US" dirty="0"/>
              <a:t>We used &lt;</a:t>
            </a:r>
            <a:r>
              <a:rPr lang="en-US" dirty="0" err="1"/>
              <a:t>fieldset</a:t>
            </a:r>
            <a:r>
              <a:rPr lang="en-US" dirty="0"/>
              <a:t>&gt; tag which makes a box around the form</a:t>
            </a:r>
          </a:p>
          <a:p>
            <a:pPr marL="285750" indent="-285750">
              <a:buFont typeface="Arial" panose="020B0604020202020204" pitchFamily="34" charset="0"/>
              <a:buChar char="•"/>
            </a:pPr>
            <a:r>
              <a:rPr lang="en-US" dirty="0"/>
              <a:t>We used the &lt;legend&gt; tag which gave a title on the </a:t>
            </a:r>
            <a:r>
              <a:rPr lang="en-US" dirty="0" err="1"/>
              <a:t>fieldset</a:t>
            </a:r>
            <a:endParaRPr lang="en-US" dirty="0"/>
          </a:p>
          <a:p>
            <a:pPr marL="285750" indent="-285750">
              <a:buFont typeface="Arial" panose="020B0604020202020204" pitchFamily="34" charset="0"/>
              <a:buChar char="•"/>
            </a:pPr>
            <a:r>
              <a:rPr lang="en-US" dirty="0"/>
              <a:t>We also learnt different types of input &lt;input type="radio“ name="gender"&gt;female&lt;</a:t>
            </a:r>
            <a:r>
              <a:rPr lang="en-US" dirty="0" err="1"/>
              <a:t>br</a:t>
            </a:r>
            <a:r>
              <a:rPr lang="en-US" dirty="0"/>
              <a:t>&gt;&lt;</a:t>
            </a:r>
            <a:r>
              <a:rPr lang="en-US" dirty="0" err="1"/>
              <a:t>br</a:t>
            </a:r>
            <a:r>
              <a:rPr lang="en-US" dirty="0"/>
              <a:t>&gt;</a:t>
            </a:r>
            <a:endParaRPr lang="en-IN" dirty="0"/>
          </a:p>
        </p:txBody>
      </p:sp>
      <p:sp>
        <p:nvSpPr>
          <p:cNvPr id="5" name="TextBox 4">
            <a:extLst>
              <a:ext uri="{FF2B5EF4-FFF2-40B4-BE49-F238E27FC236}">
                <a16:creationId xmlns:a16="http://schemas.microsoft.com/office/drawing/2014/main" id="{21F06458-3179-8DF0-56C2-71A3AED0FF3A}"/>
              </a:ext>
            </a:extLst>
          </p:cNvPr>
          <p:cNvSpPr txBox="1"/>
          <p:nvPr/>
        </p:nvSpPr>
        <p:spPr>
          <a:xfrm>
            <a:off x="589935" y="1960904"/>
            <a:ext cx="2290916" cy="384721"/>
          </a:xfrm>
          <a:prstGeom prst="rect">
            <a:avLst/>
          </a:prstGeom>
          <a:noFill/>
        </p:spPr>
        <p:txBody>
          <a:bodyPr wrap="square" rtlCol="0">
            <a:spAutoFit/>
          </a:bodyPr>
          <a:lstStyle/>
          <a:p>
            <a:r>
              <a:rPr lang="en-US" sz="1900" b="1" dirty="0"/>
              <a:t>Input:</a:t>
            </a:r>
            <a:endParaRPr lang="en-IN" sz="1900" b="1" dirty="0"/>
          </a:p>
        </p:txBody>
      </p:sp>
      <p:pic>
        <p:nvPicPr>
          <p:cNvPr id="7" name="Picture 6">
            <a:extLst>
              <a:ext uri="{FF2B5EF4-FFF2-40B4-BE49-F238E27FC236}">
                <a16:creationId xmlns:a16="http://schemas.microsoft.com/office/drawing/2014/main" id="{5F210190-EF85-4CF9-C28D-4482975E9649}"/>
              </a:ext>
            </a:extLst>
          </p:cNvPr>
          <p:cNvPicPr>
            <a:picLocks noChangeAspect="1"/>
          </p:cNvPicPr>
          <p:nvPr/>
        </p:nvPicPr>
        <p:blipFill>
          <a:blip r:embed="rId2"/>
          <a:stretch>
            <a:fillRect/>
          </a:stretch>
        </p:blipFill>
        <p:spPr>
          <a:xfrm>
            <a:off x="1314998" y="1925335"/>
            <a:ext cx="5353797" cy="4850368"/>
          </a:xfrm>
          <a:prstGeom prst="rect">
            <a:avLst/>
          </a:prstGeom>
        </p:spPr>
      </p:pic>
      <p:sp>
        <p:nvSpPr>
          <p:cNvPr id="8" name="TextBox 7">
            <a:extLst>
              <a:ext uri="{FF2B5EF4-FFF2-40B4-BE49-F238E27FC236}">
                <a16:creationId xmlns:a16="http://schemas.microsoft.com/office/drawing/2014/main" id="{534A2C85-B7FE-EE55-0DB9-3B105AB1565F}"/>
              </a:ext>
            </a:extLst>
          </p:cNvPr>
          <p:cNvSpPr txBox="1"/>
          <p:nvPr/>
        </p:nvSpPr>
        <p:spPr>
          <a:xfrm>
            <a:off x="6947752" y="1869610"/>
            <a:ext cx="2202426" cy="384721"/>
          </a:xfrm>
          <a:prstGeom prst="rect">
            <a:avLst/>
          </a:prstGeom>
          <a:noFill/>
        </p:spPr>
        <p:txBody>
          <a:bodyPr wrap="square" rtlCol="0">
            <a:spAutoFit/>
          </a:bodyPr>
          <a:lstStyle/>
          <a:p>
            <a:r>
              <a:rPr lang="en-US" sz="1900" b="1" dirty="0"/>
              <a:t>Output:</a:t>
            </a:r>
            <a:endParaRPr lang="en-IN" sz="1900" b="1" dirty="0"/>
          </a:p>
        </p:txBody>
      </p:sp>
      <p:pic>
        <p:nvPicPr>
          <p:cNvPr id="10" name="Picture 9">
            <a:extLst>
              <a:ext uri="{FF2B5EF4-FFF2-40B4-BE49-F238E27FC236}">
                <a16:creationId xmlns:a16="http://schemas.microsoft.com/office/drawing/2014/main" id="{6C198021-351C-7D31-9DD3-6DC894A9C478}"/>
              </a:ext>
            </a:extLst>
          </p:cNvPr>
          <p:cNvPicPr>
            <a:picLocks noChangeAspect="1"/>
          </p:cNvPicPr>
          <p:nvPr/>
        </p:nvPicPr>
        <p:blipFill>
          <a:blip r:embed="rId3"/>
          <a:stretch>
            <a:fillRect/>
          </a:stretch>
        </p:blipFill>
        <p:spPr>
          <a:xfrm>
            <a:off x="6829671" y="2362485"/>
            <a:ext cx="5277587" cy="2734057"/>
          </a:xfrm>
          <a:prstGeom prst="rect">
            <a:avLst/>
          </a:prstGeom>
        </p:spPr>
      </p:pic>
    </p:spTree>
    <p:extLst>
      <p:ext uri="{BB962C8B-B14F-4D97-AF65-F5344CB8AC3E}">
        <p14:creationId xmlns:p14="http://schemas.microsoft.com/office/powerpoint/2010/main" val="3097826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8C5D7A-9E28-4DF7-6384-5AA3EEBF6079}"/>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
        <p:nvSpPr>
          <p:cNvPr id="3" name="TextBox 2">
            <a:extLst>
              <a:ext uri="{FF2B5EF4-FFF2-40B4-BE49-F238E27FC236}">
                <a16:creationId xmlns:a16="http://schemas.microsoft.com/office/drawing/2014/main" id="{5DD92819-7442-0D57-E8D2-B84C44EF8285}"/>
              </a:ext>
            </a:extLst>
          </p:cNvPr>
          <p:cNvSpPr txBox="1"/>
          <p:nvPr/>
        </p:nvSpPr>
        <p:spPr>
          <a:xfrm>
            <a:off x="668594" y="255639"/>
            <a:ext cx="10569677" cy="938719"/>
          </a:xfrm>
          <a:prstGeom prst="rect">
            <a:avLst/>
          </a:prstGeom>
          <a:noFill/>
        </p:spPr>
        <p:txBody>
          <a:bodyPr wrap="square" rtlCol="0">
            <a:spAutoFit/>
          </a:bodyPr>
          <a:lstStyle/>
          <a:p>
            <a:r>
              <a:rPr lang="en-US" sz="1900" b="1" dirty="0"/>
              <a:t>CODE 04:</a:t>
            </a:r>
          </a:p>
          <a:p>
            <a:pPr marL="285750" indent="-285750">
              <a:buFont typeface="Arial" panose="020B0604020202020204" pitchFamily="34" charset="0"/>
              <a:buChar char="•"/>
            </a:pPr>
            <a:r>
              <a:rPr lang="en-US" dirty="0"/>
              <a:t>In code 4 we designed a page for college students to enter their detail as Mumbai university site</a:t>
            </a:r>
          </a:p>
          <a:p>
            <a:pPr marL="285750" indent="-285750">
              <a:buFont typeface="Arial" panose="020B0604020202020204" pitchFamily="34" charset="0"/>
              <a:buChar char="•"/>
            </a:pPr>
            <a:r>
              <a:rPr lang="en-US" dirty="0"/>
              <a:t>We designed a table to store the data using tables</a:t>
            </a:r>
            <a:endParaRPr lang="en-IN" dirty="0"/>
          </a:p>
        </p:txBody>
      </p:sp>
      <p:sp>
        <p:nvSpPr>
          <p:cNvPr id="4" name="TextBox 3">
            <a:extLst>
              <a:ext uri="{FF2B5EF4-FFF2-40B4-BE49-F238E27FC236}">
                <a16:creationId xmlns:a16="http://schemas.microsoft.com/office/drawing/2014/main" id="{45B6C299-1C26-2589-2D55-77D9592CE763}"/>
              </a:ext>
            </a:extLst>
          </p:cNvPr>
          <p:cNvSpPr txBox="1"/>
          <p:nvPr/>
        </p:nvSpPr>
        <p:spPr>
          <a:xfrm>
            <a:off x="668594" y="1194358"/>
            <a:ext cx="2241754" cy="384721"/>
          </a:xfrm>
          <a:prstGeom prst="rect">
            <a:avLst/>
          </a:prstGeom>
          <a:noFill/>
        </p:spPr>
        <p:txBody>
          <a:bodyPr wrap="square" rtlCol="0">
            <a:spAutoFit/>
          </a:bodyPr>
          <a:lstStyle/>
          <a:p>
            <a:r>
              <a:rPr lang="en-US" sz="1900" b="1" dirty="0"/>
              <a:t>Input:</a:t>
            </a:r>
            <a:endParaRPr lang="en-IN" sz="1900" b="1" dirty="0"/>
          </a:p>
        </p:txBody>
      </p:sp>
      <p:pic>
        <p:nvPicPr>
          <p:cNvPr id="6" name="Picture 5">
            <a:extLst>
              <a:ext uri="{FF2B5EF4-FFF2-40B4-BE49-F238E27FC236}">
                <a16:creationId xmlns:a16="http://schemas.microsoft.com/office/drawing/2014/main" id="{BB6793FD-4BA6-A2E2-7172-C32E5887C5B0}"/>
              </a:ext>
            </a:extLst>
          </p:cNvPr>
          <p:cNvPicPr>
            <a:picLocks noChangeAspect="1"/>
          </p:cNvPicPr>
          <p:nvPr/>
        </p:nvPicPr>
        <p:blipFill>
          <a:blip r:embed="rId2"/>
          <a:stretch>
            <a:fillRect/>
          </a:stretch>
        </p:blipFill>
        <p:spPr>
          <a:xfrm>
            <a:off x="1541761" y="1194358"/>
            <a:ext cx="5045851" cy="5663642"/>
          </a:xfrm>
          <a:prstGeom prst="rect">
            <a:avLst/>
          </a:prstGeom>
        </p:spPr>
      </p:pic>
      <p:pic>
        <p:nvPicPr>
          <p:cNvPr id="8" name="Picture 7">
            <a:extLst>
              <a:ext uri="{FF2B5EF4-FFF2-40B4-BE49-F238E27FC236}">
                <a16:creationId xmlns:a16="http://schemas.microsoft.com/office/drawing/2014/main" id="{9B11BD40-324B-84C9-1A6B-718C5112AC2A}"/>
              </a:ext>
            </a:extLst>
          </p:cNvPr>
          <p:cNvPicPr>
            <a:picLocks noChangeAspect="1"/>
          </p:cNvPicPr>
          <p:nvPr/>
        </p:nvPicPr>
        <p:blipFill>
          <a:blip r:embed="rId3"/>
          <a:stretch>
            <a:fillRect/>
          </a:stretch>
        </p:blipFill>
        <p:spPr>
          <a:xfrm>
            <a:off x="6865686" y="1888272"/>
            <a:ext cx="4372585" cy="3991532"/>
          </a:xfrm>
          <a:prstGeom prst="rect">
            <a:avLst/>
          </a:prstGeom>
        </p:spPr>
      </p:pic>
    </p:spTree>
    <p:extLst>
      <p:ext uri="{BB962C8B-B14F-4D97-AF65-F5344CB8AC3E}">
        <p14:creationId xmlns:p14="http://schemas.microsoft.com/office/powerpoint/2010/main" val="2292985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BE7B30-875A-6819-94D8-F2521593804F}"/>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
        <p:nvSpPr>
          <p:cNvPr id="3" name="TextBox 2">
            <a:extLst>
              <a:ext uri="{FF2B5EF4-FFF2-40B4-BE49-F238E27FC236}">
                <a16:creationId xmlns:a16="http://schemas.microsoft.com/office/drawing/2014/main" id="{DCE4B4F4-4402-F39A-32C1-F0DB785DAB51}"/>
              </a:ext>
            </a:extLst>
          </p:cNvPr>
          <p:cNvSpPr txBox="1"/>
          <p:nvPr/>
        </p:nvSpPr>
        <p:spPr>
          <a:xfrm>
            <a:off x="717755" y="294968"/>
            <a:ext cx="3952568" cy="384721"/>
          </a:xfrm>
          <a:prstGeom prst="rect">
            <a:avLst/>
          </a:prstGeom>
          <a:noFill/>
        </p:spPr>
        <p:txBody>
          <a:bodyPr wrap="square" rtlCol="0">
            <a:spAutoFit/>
          </a:bodyPr>
          <a:lstStyle/>
          <a:p>
            <a:r>
              <a:rPr lang="en-US" sz="1900" b="1" dirty="0"/>
              <a:t>Output:</a:t>
            </a:r>
            <a:endParaRPr lang="en-IN" sz="1900" b="1" dirty="0"/>
          </a:p>
        </p:txBody>
      </p:sp>
      <p:pic>
        <p:nvPicPr>
          <p:cNvPr id="5" name="Picture 4">
            <a:extLst>
              <a:ext uri="{FF2B5EF4-FFF2-40B4-BE49-F238E27FC236}">
                <a16:creationId xmlns:a16="http://schemas.microsoft.com/office/drawing/2014/main" id="{6999A436-BEF6-FE06-969C-F25D2F9A8166}"/>
              </a:ext>
            </a:extLst>
          </p:cNvPr>
          <p:cNvPicPr>
            <a:picLocks noChangeAspect="1"/>
          </p:cNvPicPr>
          <p:nvPr/>
        </p:nvPicPr>
        <p:blipFill>
          <a:blip r:embed="rId2"/>
          <a:stretch>
            <a:fillRect/>
          </a:stretch>
        </p:blipFill>
        <p:spPr>
          <a:xfrm>
            <a:off x="0" y="729712"/>
            <a:ext cx="12192000" cy="5398576"/>
          </a:xfrm>
          <a:prstGeom prst="rect">
            <a:avLst/>
          </a:prstGeom>
        </p:spPr>
      </p:pic>
    </p:spTree>
    <p:extLst>
      <p:ext uri="{BB962C8B-B14F-4D97-AF65-F5344CB8AC3E}">
        <p14:creationId xmlns:p14="http://schemas.microsoft.com/office/powerpoint/2010/main" val="3478281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9D8B5D-CE60-EAA8-73AB-67C3BBDD9AE1}"/>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
        <p:nvSpPr>
          <p:cNvPr id="3" name="TextBox 2">
            <a:extLst>
              <a:ext uri="{FF2B5EF4-FFF2-40B4-BE49-F238E27FC236}">
                <a16:creationId xmlns:a16="http://schemas.microsoft.com/office/drawing/2014/main" id="{A984BE61-F137-157E-8E42-71BB5404B0EE}"/>
              </a:ext>
            </a:extLst>
          </p:cNvPr>
          <p:cNvSpPr txBox="1"/>
          <p:nvPr/>
        </p:nvSpPr>
        <p:spPr>
          <a:xfrm>
            <a:off x="550606" y="304800"/>
            <a:ext cx="10186220" cy="938719"/>
          </a:xfrm>
          <a:prstGeom prst="rect">
            <a:avLst/>
          </a:prstGeom>
          <a:noFill/>
        </p:spPr>
        <p:txBody>
          <a:bodyPr wrap="square" rtlCol="0">
            <a:spAutoFit/>
          </a:bodyPr>
          <a:lstStyle/>
          <a:p>
            <a:r>
              <a:rPr lang="en-US" sz="1900" b="1" dirty="0"/>
              <a:t>CODE 05:</a:t>
            </a:r>
          </a:p>
          <a:p>
            <a:pPr marL="285750" indent="-285750">
              <a:buFont typeface="Arial" panose="020B0604020202020204" pitchFamily="34" charset="0"/>
              <a:buChar char="•"/>
            </a:pPr>
            <a:r>
              <a:rPr lang="en-US" dirty="0"/>
              <a:t>Code 5 was an experiment to design a </a:t>
            </a:r>
            <a:r>
              <a:rPr lang="en-US" dirty="0" err="1"/>
              <a:t>inteactive</a:t>
            </a:r>
            <a:r>
              <a:rPr lang="en-US" dirty="0"/>
              <a:t> web page with all the learning in 2 days</a:t>
            </a:r>
          </a:p>
          <a:p>
            <a:r>
              <a:rPr lang="en-US" dirty="0"/>
              <a:t>and our creativity by using internal </a:t>
            </a:r>
            <a:r>
              <a:rPr lang="en-US" dirty="0" err="1"/>
              <a:t>css</a:t>
            </a:r>
            <a:r>
              <a:rPr lang="en-US" dirty="0"/>
              <a:t> inline </a:t>
            </a:r>
            <a:r>
              <a:rPr lang="en-US" dirty="0" err="1"/>
              <a:t>css</a:t>
            </a:r>
            <a:r>
              <a:rPr lang="en-US" dirty="0"/>
              <a:t> and external </a:t>
            </a:r>
            <a:r>
              <a:rPr lang="en-US" dirty="0" err="1"/>
              <a:t>css</a:t>
            </a:r>
            <a:r>
              <a:rPr lang="en-US" dirty="0"/>
              <a:t> in a code</a:t>
            </a:r>
            <a:endParaRPr lang="en-IN" dirty="0"/>
          </a:p>
        </p:txBody>
      </p:sp>
      <p:sp>
        <p:nvSpPr>
          <p:cNvPr id="4" name="TextBox 3">
            <a:extLst>
              <a:ext uri="{FF2B5EF4-FFF2-40B4-BE49-F238E27FC236}">
                <a16:creationId xmlns:a16="http://schemas.microsoft.com/office/drawing/2014/main" id="{D6439867-B700-C605-21FC-8281979F8751}"/>
              </a:ext>
            </a:extLst>
          </p:cNvPr>
          <p:cNvSpPr txBox="1"/>
          <p:nvPr/>
        </p:nvSpPr>
        <p:spPr>
          <a:xfrm>
            <a:off x="550606" y="1213652"/>
            <a:ext cx="2703871" cy="384721"/>
          </a:xfrm>
          <a:prstGeom prst="rect">
            <a:avLst/>
          </a:prstGeom>
          <a:noFill/>
        </p:spPr>
        <p:txBody>
          <a:bodyPr wrap="square" rtlCol="0">
            <a:spAutoFit/>
          </a:bodyPr>
          <a:lstStyle/>
          <a:p>
            <a:r>
              <a:rPr lang="en-US" sz="1900" b="1" dirty="0"/>
              <a:t>Input:</a:t>
            </a:r>
            <a:endParaRPr lang="en-IN" sz="1900" b="1" dirty="0"/>
          </a:p>
        </p:txBody>
      </p:sp>
      <p:pic>
        <p:nvPicPr>
          <p:cNvPr id="6" name="Picture 5">
            <a:extLst>
              <a:ext uri="{FF2B5EF4-FFF2-40B4-BE49-F238E27FC236}">
                <a16:creationId xmlns:a16="http://schemas.microsoft.com/office/drawing/2014/main" id="{7209E2FC-CDC5-15ED-E111-5EC3F67D0AC4}"/>
              </a:ext>
            </a:extLst>
          </p:cNvPr>
          <p:cNvPicPr>
            <a:picLocks noChangeAspect="1"/>
          </p:cNvPicPr>
          <p:nvPr/>
        </p:nvPicPr>
        <p:blipFill>
          <a:blip r:embed="rId2"/>
          <a:stretch>
            <a:fillRect/>
          </a:stretch>
        </p:blipFill>
        <p:spPr>
          <a:xfrm>
            <a:off x="1317990" y="1243519"/>
            <a:ext cx="7245907" cy="5614481"/>
          </a:xfrm>
          <a:prstGeom prst="rect">
            <a:avLst/>
          </a:prstGeom>
        </p:spPr>
      </p:pic>
    </p:spTree>
    <p:extLst>
      <p:ext uri="{BB962C8B-B14F-4D97-AF65-F5344CB8AC3E}">
        <p14:creationId xmlns:p14="http://schemas.microsoft.com/office/powerpoint/2010/main" val="2576327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7E338A-3B16-1EC2-CC9F-CD7F322DFB3C}"/>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
        <p:nvSpPr>
          <p:cNvPr id="3" name="TextBox 2">
            <a:extLst>
              <a:ext uri="{FF2B5EF4-FFF2-40B4-BE49-F238E27FC236}">
                <a16:creationId xmlns:a16="http://schemas.microsoft.com/office/drawing/2014/main" id="{3F669499-502F-94D7-CDDB-B1F4568DC128}"/>
              </a:ext>
            </a:extLst>
          </p:cNvPr>
          <p:cNvSpPr txBox="1"/>
          <p:nvPr/>
        </p:nvSpPr>
        <p:spPr>
          <a:xfrm>
            <a:off x="629265" y="294968"/>
            <a:ext cx="5368412" cy="384721"/>
          </a:xfrm>
          <a:prstGeom prst="rect">
            <a:avLst/>
          </a:prstGeom>
          <a:noFill/>
        </p:spPr>
        <p:txBody>
          <a:bodyPr wrap="square" rtlCol="0">
            <a:spAutoFit/>
          </a:bodyPr>
          <a:lstStyle/>
          <a:p>
            <a:r>
              <a:rPr lang="en-US" sz="1900" b="1" dirty="0"/>
              <a:t>Output:</a:t>
            </a:r>
            <a:endParaRPr lang="en-IN" sz="1900" b="1" dirty="0"/>
          </a:p>
        </p:txBody>
      </p:sp>
      <p:pic>
        <p:nvPicPr>
          <p:cNvPr id="5" name="Picture 4">
            <a:extLst>
              <a:ext uri="{FF2B5EF4-FFF2-40B4-BE49-F238E27FC236}">
                <a16:creationId xmlns:a16="http://schemas.microsoft.com/office/drawing/2014/main" id="{80BDF722-8AE5-72D9-3672-DD468DF55058}"/>
              </a:ext>
            </a:extLst>
          </p:cNvPr>
          <p:cNvPicPr>
            <a:picLocks noChangeAspect="1"/>
          </p:cNvPicPr>
          <p:nvPr/>
        </p:nvPicPr>
        <p:blipFill>
          <a:blip r:embed="rId2"/>
          <a:stretch>
            <a:fillRect/>
          </a:stretch>
        </p:blipFill>
        <p:spPr>
          <a:xfrm>
            <a:off x="0" y="679690"/>
            <a:ext cx="12192000" cy="3884684"/>
          </a:xfrm>
          <a:prstGeom prst="rect">
            <a:avLst/>
          </a:prstGeom>
        </p:spPr>
      </p:pic>
      <p:pic>
        <p:nvPicPr>
          <p:cNvPr id="7" name="Picture 6">
            <a:extLst>
              <a:ext uri="{FF2B5EF4-FFF2-40B4-BE49-F238E27FC236}">
                <a16:creationId xmlns:a16="http://schemas.microsoft.com/office/drawing/2014/main" id="{64C9C443-1735-7EAF-B865-A1AF79BFFCA9}"/>
              </a:ext>
            </a:extLst>
          </p:cNvPr>
          <p:cNvPicPr>
            <a:picLocks noChangeAspect="1"/>
          </p:cNvPicPr>
          <p:nvPr/>
        </p:nvPicPr>
        <p:blipFill>
          <a:blip r:embed="rId3"/>
          <a:stretch>
            <a:fillRect/>
          </a:stretch>
        </p:blipFill>
        <p:spPr>
          <a:xfrm>
            <a:off x="3409358" y="4564374"/>
            <a:ext cx="6216423" cy="2303572"/>
          </a:xfrm>
          <a:prstGeom prst="rect">
            <a:avLst/>
          </a:prstGeom>
        </p:spPr>
      </p:pic>
    </p:spTree>
    <p:extLst>
      <p:ext uri="{BB962C8B-B14F-4D97-AF65-F5344CB8AC3E}">
        <p14:creationId xmlns:p14="http://schemas.microsoft.com/office/powerpoint/2010/main" val="1747816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7B7E77-ACB8-F651-10AF-3867AF4FAD37}"/>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
        <p:nvSpPr>
          <p:cNvPr id="3" name="TextBox 2">
            <a:extLst>
              <a:ext uri="{FF2B5EF4-FFF2-40B4-BE49-F238E27FC236}">
                <a16:creationId xmlns:a16="http://schemas.microsoft.com/office/drawing/2014/main" id="{B01A470E-9EA2-E1E2-2F54-837CF493B445}"/>
              </a:ext>
            </a:extLst>
          </p:cNvPr>
          <p:cNvSpPr txBox="1"/>
          <p:nvPr/>
        </p:nvSpPr>
        <p:spPr>
          <a:xfrm>
            <a:off x="1882877" y="2949678"/>
            <a:ext cx="8426245" cy="646331"/>
          </a:xfrm>
          <a:prstGeom prst="rect">
            <a:avLst/>
          </a:prstGeom>
          <a:noFill/>
        </p:spPr>
        <p:txBody>
          <a:bodyPr wrap="square" rtlCol="0">
            <a:spAutoFit/>
          </a:bodyPr>
          <a:lstStyle/>
          <a:p>
            <a:pPr algn="ctr"/>
            <a:r>
              <a:rPr lang="en-US" sz="3600" b="1" dirty="0"/>
              <a:t>THANK YOU</a:t>
            </a:r>
            <a:endParaRPr lang="en-IN" sz="3600" b="1" dirty="0"/>
          </a:p>
        </p:txBody>
      </p:sp>
    </p:spTree>
    <p:extLst>
      <p:ext uri="{BB962C8B-B14F-4D97-AF65-F5344CB8AC3E}">
        <p14:creationId xmlns:p14="http://schemas.microsoft.com/office/powerpoint/2010/main" val="4209035399"/>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{C2049B65-4347-4AB0-B9D8-4774B6A144C5}tf11964407_win32</Template>
  <TotalTime>83</TotalTime>
  <Words>1014</Words>
  <Application>Microsoft Office PowerPoint</Application>
  <PresentationFormat>Widescreen</PresentationFormat>
  <Paragraphs>112</Paragraphs>
  <Slides>20</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Courier New</vt:lpstr>
      <vt:lpstr>Gill Sans Nova Light</vt:lpstr>
      <vt:lpstr>Sagona Book</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stuti shah</dc:creator>
  <cp:lastModifiedBy>stuti shah</cp:lastModifiedBy>
  <cp:revision>1</cp:revision>
  <dcterms:created xsi:type="dcterms:W3CDTF">2025-11-12T04:16:29Z</dcterms:created>
  <dcterms:modified xsi:type="dcterms:W3CDTF">2025-11-12T05:39:52Z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